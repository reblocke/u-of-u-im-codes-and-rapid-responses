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8" r:id="rId2"/>
  </p:sldIdLst>
  <p:sldSz cx="43891200" cy="329184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25" d="100"/>
          <a:sy n="25" d="100"/>
        </p:scale>
        <p:origin x="-1329" y="-8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305">
            <a:extLst>
              <a:ext uri="{FF2B5EF4-FFF2-40B4-BE49-F238E27FC236}">
                <a16:creationId xmlns:a16="http://schemas.microsoft.com/office/drawing/2014/main" id="{ABED26F3-97B3-4848-B230-A94CB99B01BE}"/>
              </a:ext>
            </a:extLst>
          </p:cNvPr>
          <p:cNvSpPr/>
          <p:nvPr/>
        </p:nvSpPr>
        <p:spPr>
          <a:xfrm>
            <a:off x="11811000" y="14198600"/>
            <a:ext cx="20002500" cy="1054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3E00CBD-F23B-4746-81E6-A536884C5B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7F7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34121" b="34121"/>
          <a:stretch>
            <a:fillRect/>
          </a:stretch>
        </p:blipFill>
        <p:spPr>
          <a:xfrm>
            <a:off x="0" y="0"/>
            <a:ext cx="43891200" cy="4953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82EB0B1-E025-466A-AE8A-E15488C0FA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3891200" cy="4953000"/>
          </a:xfrm>
          <a:prstGeom prst="rect">
            <a:avLst/>
          </a:prstGeom>
          <a:solidFill>
            <a:srgbClr val="10163A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55D9EF-9132-4931-9268-68E2098FF22C}"/>
              </a:ext>
            </a:extLst>
          </p:cNvPr>
          <p:cNvSpPr>
            <a:spLocks noGrp="1"/>
          </p:cNvSpPr>
          <p:nvPr/>
        </p:nvSpPr>
        <p:spPr>
          <a:xfrm>
            <a:off x="0" y="4762500"/>
            <a:ext cx="43891200" cy="190500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73175" y="1473200"/>
            <a:ext cx="3975652" cy="1219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7536967" y="1238250"/>
            <a:ext cx="4745567" cy="1447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3713892-BEE6-44CB-9535-B79485F559C9}"/>
              </a:ext>
            </a:extLst>
          </p:cNvPr>
          <p:cNvSpPr>
            <a:spLocks noGrp="1"/>
          </p:cNvSpPr>
          <p:nvPr/>
        </p:nvSpPr>
        <p:spPr>
          <a:xfrm>
            <a:off x="7239000" y="590550"/>
            <a:ext cx="285750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6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Intern Code Blue and Rapid Response Leadership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F0DC96-F918-4256-9D49-B218109AD841}"/>
              </a:ext>
            </a:extLst>
          </p:cNvPr>
          <p:cNvSpPr>
            <a:spLocks noGrp="1"/>
          </p:cNvSpPr>
          <p:nvPr/>
        </p:nvSpPr>
        <p:spPr>
          <a:xfrm>
            <a:off x="7429500" y="1562100"/>
            <a:ext cx="28575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/>
            <a:r>
              <a:rPr lang="en-US" sz="4000" b="0" dirty="0">
                <a:solidFill>
                  <a:srgbClr val="DDE6F0"/>
                </a:solidFill>
                <a:latin typeface="Aptos"/>
                <a:ea typeface="Aptos"/>
                <a:cs typeface="Aptos"/>
              </a:rPr>
              <a:t>Rhythm-recognition confidence improved; team-leadership confidence did not — and prior exposure types diverged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F2C8C6-AE9E-4664-9358-11A34FB8BD90}"/>
              </a:ext>
            </a:extLst>
          </p:cNvPr>
          <p:cNvSpPr>
            <a:spLocks noGrp="1"/>
          </p:cNvSpPr>
          <p:nvPr/>
        </p:nvSpPr>
        <p:spPr>
          <a:xfrm>
            <a:off x="6096000" y="2495550"/>
            <a:ext cx="29051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0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Josiah Situmeang</a:t>
            </a:r>
            <a:r>
              <a:rPr lang="en-US" sz="3600" b="0" baseline="3000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r>
              <a:rPr sz="36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, MD; Alex Ryden</a:t>
            </a:r>
            <a:r>
              <a:rPr lang="en-US" sz="3600" b="0" baseline="3000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r>
              <a:rPr sz="36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, MD; Colton Long</a:t>
            </a:r>
            <a:r>
              <a:rPr lang="en-US" sz="3600" b="0" baseline="3000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r>
              <a:rPr sz="36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, MD; Ethan Krauspe</a:t>
            </a:r>
            <a:r>
              <a:rPr lang="en-US" sz="3600" b="0" baseline="3000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r>
              <a:rPr sz="36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, MD; Sumit Patel</a:t>
            </a:r>
            <a:r>
              <a:rPr lang="en-US" sz="3600" b="0" baseline="3000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r>
              <a:rPr sz="36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, MD; Richa Sheth</a:t>
            </a:r>
            <a:r>
              <a:rPr lang="en-US" sz="3600" b="0" baseline="3000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r>
              <a:rPr sz="36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, MD; Brian W. Locke</a:t>
            </a:r>
            <a:r>
              <a:rPr lang="en-US" sz="3600" b="0" baseline="3000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r>
              <a:rPr sz="36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, MD MSCI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222C6-8148-465D-986C-AA14B59BCF42}"/>
              </a:ext>
            </a:extLst>
          </p:cNvPr>
          <p:cNvSpPr>
            <a:spLocks noGrp="1"/>
          </p:cNvSpPr>
          <p:nvPr/>
        </p:nvSpPr>
        <p:spPr>
          <a:xfrm>
            <a:off x="5715000" y="3105150"/>
            <a:ext cx="30670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200" b="0">
                <a:solidFill>
                  <a:srgbClr val="C5D1DE"/>
                </a:solidFill>
                <a:latin typeface="Aptos"/>
                <a:ea typeface="Aptos"/>
                <a:cs typeface="Aptos"/>
              </a:defRPr>
            </a:pPr>
            <a:r>
              <a:rPr lang="en-US" sz="3200" b="0" dirty="0">
                <a:solidFill>
                  <a:srgbClr val="C5D1DE"/>
                </a:solidFill>
                <a:latin typeface="Aptos"/>
                <a:ea typeface="Aptos"/>
                <a:cs typeface="Aptos"/>
              </a:rPr>
              <a:t>1. </a:t>
            </a:r>
            <a:r>
              <a:rPr sz="3200" b="0" dirty="0">
                <a:solidFill>
                  <a:srgbClr val="C5D1DE"/>
                </a:solidFill>
                <a:latin typeface="Aptos"/>
                <a:ea typeface="Aptos"/>
                <a:cs typeface="Aptos"/>
              </a:rPr>
              <a:t>University of Utah Internal Medicine Residency, Pulmonary &amp; Critical Care Medicine Fellowship, Cardiovascular Diseases Fellowship; </a:t>
            </a:r>
            <a:r>
              <a:rPr lang="en-US" sz="3200" b="0" dirty="0">
                <a:solidFill>
                  <a:srgbClr val="C5D1DE"/>
                </a:solidFill>
                <a:latin typeface="Aptos"/>
                <a:ea typeface="Aptos"/>
                <a:cs typeface="Aptos"/>
              </a:rPr>
              <a:t>2. </a:t>
            </a:r>
            <a:r>
              <a:rPr sz="3200" b="0" dirty="0">
                <a:solidFill>
                  <a:srgbClr val="C5D1DE"/>
                </a:solidFill>
                <a:latin typeface="Aptos"/>
                <a:ea typeface="Aptos"/>
                <a:cs typeface="Aptos"/>
              </a:rPr>
              <a:t>Pulmonary &amp; Critical Care Medicine, Intermountain Medical Center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BD56F5-802F-48AD-9D02-6AD9C1E55693}"/>
              </a:ext>
            </a:extLst>
          </p:cNvPr>
          <p:cNvSpPr>
            <a:spLocks noGrp="1"/>
          </p:cNvSpPr>
          <p:nvPr/>
        </p:nvSpPr>
        <p:spPr>
          <a:xfrm>
            <a:off x="952500" y="5429250"/>
            <a:ext cx="10287000" cy="776605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0211CF-BB2C-480E-841A-A41AF0135FE1}"/>
              </a:ext>
            </a:extLst>
          </p:cNvPr>
          <p:cNvSpPr>
            <a:spLocks noGrp="1"/>
          </p:cNvSpPr>
          <p:nvPr/>
        </p:nvSpPr>
        <p:spPr>
          <a:xfrm>
            <a:off x="952500" y="5429250"/>
            <a:ext cx="95250" cy="7766050"/>
          </a:xfrm>
          <a:prstGeom prst="rect">
            <a:avLst/>
          </a:prstGeom>
          <a:solidFill>
            <a:srgbClr val="C810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503E82-79B1-4DCB-B4D5-F0C357503209}"/>
              </a:ext>
            </a:extLst>
          </p:cNvPr>
          <p:cNvSpPr>
            <a:spLocks noGrp="1"/>
          </p:cNvSpPr>
          <p:nvPr/>
        </p:nvSpPr>
        <p:spPr>
          <a:xfrm>
            <a:off x="1276350" y="5753100"/>
            <a:ext cx="133350" cy="495300"/>
          </a:xfrm>
          <a:prstGeom prst="rect">
            <a:avLst/>
          </a:prstGeom>
          <a:solidFill>
            <a:srgbClr val="C810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A29710-CD80-46B0-817A-627F206672B5}"/>
              </a:ext>
            </a:extLst>
          </p:cNvPr>
          <p:cNvSpPr>
            <a:spLocks noGrp="1"/>
          </p:cNvSpPr>
          <p:nvPr/>
        </p:nvSpPr>
        <p:spPr>
          <a:xfrm>
            <a:off x="1581150" y="5715000"/>
            <a:ext cx="9334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rPr>
              <a:t>RATIONALE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8E8DDA-1E93-45F8-981D-FFD8CE54210F}"/>
              </a:ext>
            </a:extLst>
          </p:cNvPr>
          <p:cNvSpPr>
            <a:spLocks noGrp="1"/>
          </p:cNvSpPr>
          <p:nvPr/>
        </p:nvSpPr>
        <p:spPr>
          <a:xfrm>
            <a:off x="1581150" y="6400800"/>
            <a:ext cx="9334500" cy="28575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A65321-5431-4544-9893-2F8518BE2B7E}"/>
              </a:ext>
            </a:extLst>
          </p:cNvPr>
          <p:cNvSpPr>
            <a:spLocks noGrp="1"/>
          </p:cNvSpPr>
          <p:nvPr/>
        </p:nvSpPr>
        <p:spPr>
          <a:xfrm>
            <a:off x="1619250" y="6807200"/>
            <a:ext cx="323850" cy="1117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102E"/>
                </a:solidFill>
                <a:latin typeface="Aptos"/>
                <a:ea typeface="Aptos"/>
                <a:cs typeface="Aptos"/>
              </a:defRPr>
            </a:pPr>
            <a:r>
              <a:rPr sz="2250" b="1" dirty="0">
                <a:solidFill>
                  <a:srgbClr val="C8102E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F44ED1-41D3-4741-9E25-6C6943BD8689}"/>
              </a:ext>
            </a:extLst>
          </p:cNvPr>
          <p:cNvSpPr>
            <a:spLocks noGrp="1"/>
          </p:cNvSpPr>
          <p:nvPr/>
        </p:nvSpPr>
        <p:spPr>
          <a:xfrm>
            <a:off x="2000250" y="6743700"/>
            <a:ext cx="8667750" cy="166199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Residents </a:t>
            </a:r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are locally responsible for code and rapid response leadership</a:t>
            </a:r>
            <a:r>
              <a:rPr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Learning occurs via exposure and simulation.</a:t>
            </a:r>
            <a:endParaRPr sz="36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8438D1-913C-4DFA-A802-31D6318E0B36}"/>
              </a:ext>
            </a:extLst>
          </p:cNvPr>
          <p:cNvSpPr>
            <a:spLocks noGrp="1"/>
          </p:cNvSpPr>
          <p:nvPr/>
        </p:nvSpPr>
        <p:spPr>
          <a:xfrm>
            <a:off x="1619250" y="8709154"/>
            <a:ext cx="323850" cy="222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102E"/>
                </a:solidFill>
                <a:latin typeface="Aptos"/>
                <a:ea typeface="Aptos"/>
                <a:cs typeface="Aptos"/>
              </a:defRPr>
            </a:pPr>
            <a:r>
              <a:rPr sz="2250" b="1" dirty="0">
                <a:solidFill>
                  <a:srgbClr val="C8102E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46113B-C104-4610-9271-0242DBF7805F}"/>
              </a:ext>
            </a:extLst>
          </p:cNvPr>
          <p:cNvSpPr>
            <a:spLocks noGrp="1"/>
          </p:cNvSpPr>
          <p:nvPr/>
        </p:nvSpPr>
        <p:spPr>
          <a:xfrm>
            <a:off x="2000250" y="8646993"/>
            <a:ext cx="8667750" cy="221599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Traditional teaching emphasizes algorithms and technical steps, with less focus on leadership, communication, and team dynamics.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8E2E1C-9C37-4192-839A-7BBE6E0892CD}"/>
              </a:ext>
            </a:extLst>
          </p:cNvPr>
          <p:cNvSpPr>
            <a:spLocks noGrp="1"/>
          </p:cNvSpPr>
          <p:nvPr/>
        </p:nvSpPr>
        <p:spPr>
          <a:xfrm>
            <a:off x="1619250" y="11335642"/>
            <a:ext cx="323850" cy="222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102E"/>
                </a:solidFill>
                <a:latin typeface="Aptos"/>
                <a:ea typeface="Aptos"/>
                <a:cs typeface="Aptos"/>
              </a:defRPr>
            </a:pPr>
            <a:r>
              <a:rPr sz="2250" b="1" dirty="0">
                <a:solidFill>
                  <a:srgbClr val="C8102E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395232-486D-472E-B4AE-47217BE36231}"/>
              </a:ext>
            </a:extLst>
          </p:cNvPr>
          <p:cNvSpPr>
            <a:spLocks noGrp="1"/>
          </p:cNvSpPr>
          <p:nvPr/>
        </p:nvSpPr>
        <p:spPr>
          <a:xfrm>
            <a:off x="1943100" y="11269557"/>
            <a:ext cx="8667750" cy="166199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Prior safety analyses and feedback </a:t>
            </a:r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highlight</a:t>
            </a:r>
            <a:r>
              <a:rPr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unclear leadership, missed shockable-rhythm decisions, and delayed escalation.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89860C-9B84-4F0E-A495-F93CE19BEDD4}"/>
              </a:ext>
            </a:extLst>
          </p:cNvPr>
          <p:cNvSpPr>
            <a:spLocks noGrp="1"/>
          </p:cNvSpPr>
          <p:nvPr/>
        </p:nvSpPr>
        <p:spPr>
          <a:xfrm>
            <a:off x="952500" y="13550900"/>
            <a:ext cx="10287000" cy="8377808"/>
          </a:xfrm>
          <a:prstGeom prst="rect">
            <a:avLst/>
          </a:prstGeom>
          <a:solidFill>
            <a:srgbClr val="FFFFFF"/>
          </a:solidFill>
          <a:ln w="1905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F173CD-6FB6-4C52-80DD-8BBF0AB3844F}"/>
              </a:ext>
            </a:extLst>
          </p:cNvPr>
          <p:cNvSpPr>
            <a:spLocks noGrp="1"/>
          </p:cNvSpPr>
          <p:nvPr/>
        </p:nvSpPr>
        <p:spPr>
          <a:xfrm>
            <a:off x="952500" y="13550900"/>
            <a:ext cx="95250" cy="8377808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505DD1-079D-4B26-97C6-3888C1928074}"/>
              </a:ext>
            </a:extLst>
          </p:cNvPr>
          <p:cNvSpPr>
            <a:spLocks noGrp="1"/>
          </p:cNvSpPr>
          <p:nvPr/>
        </p:nvSpPr>
        <p:spPr>
          <a:xfrm>
            <a:off x="1276350" y="13868400"/>
            <a:ext cx="133350" cy="495300"/>
          </a:xfrm>
          <a:prstGeom prst="rect">
            <a:avLst/>
          </a:prstGeom>
          <a:solidFill>
            <a:srgbClr val="008C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21ABF2-2AFD-4FA0-9B0C-9411808C1E51}"/>
              </a:ext>
            </a:extLst>
          </p:cNvPr>
          <p:cNvSpPr>
            <a:spLocks noGrp="1"/>
          </p:cNvSpPr>
          <p:nvPr/>
        </p:nvSpPr>
        <p:spPr>
          <a:xfrm>
            <a:off x="1581150" y="13830300"/>
            <a:ext cx="9334500" cy="673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rPr>
              <a:t>CURRICULUM DESIGN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654DCB-0BCC-4365-B5E3-AEDAE4DDCDEA}"/>
              </a:ext>
            </a:extLst>
          </p:cNvPr>
          <p:cNvSpPr>
            <a:spLocks noGrp="1"/>
          </p:cNvSpPr>
          <p:nvPr/>
        </p:nvSpPr>
        <p:spPr>
          <a:xfrm>
            <a:off x="1581150" y="14516100"/>
            <a:ext cx="9334500" cy="25400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7DDC76-3DD9-426A-9F76-21AF3472F2B1}"/>
              </a:ext>
            </a:extLst>
          </p:cNvPr>
          <p:cNvSpPr>
            <a:spLocks noGrp="1"/>
          </p:cNvSpPr>
          <p:nvPr/>
        </p:nvSpPr>
        <p:spPr>
          <a:xfrm>
            <a:off x="1619250" y="14782800"/>
            <a:ext cx="9048750" cy="682840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400"/>
              </a:lnSpc>
              <a:spcAft>
                <a:spcPts val="600"/>
              </a:spcAft>
            </a:pPr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 web-based modules (~60 min total), completed asynchronously prior to PGY-2 start.</a:t>
            </a:r>
          </a:p>
          <a:p>
            <a:pPr algn="l">
              <a:lnSpc>
                <a:spcPts val="3400"/>
              </a:lnSpc>
              <a:spcAft>
                <a:spcPts val="600"/>
              </a:spcAft>
            </a:pPr>
            <a:r>
              <a:rPr lang="en-US" sz="36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Modules :</a:t>
            </a:r>
          </a:p>
          <a:p>
            <a:pPr marL="228600" indent="-228600" algn="l">
              <a:lnSpc>
                <a:spcPts val="3000"/>
              </a:lnSpc>
              <a:spcAft>
                <a:spcPts val="200"/>
              </a:spcAft>
              <a:buFont typeface="Arial"/>
              <a:buChar char="•"/>
            </a:pPr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Leadership skills for code blue and rapid response teams</a:t>
            </a:r>
          </a:p>
          <a:p>
            <a:pPr marL="228600" indent="-228600" algn="l">
              <a:lnSpc>
                <a:spcPts val="3000"/>
              </a:lnSpc>
              <a:spcAft>
                <a:spcPts val="200"/>
              </a:spcAft>
              <a:buFont typeface="Arial"/>
              <a:buChar char="•"/>
            </a:pPr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Rhythm strip recognition and management</a:t>
            </a:r>
          </a:p>
          <a:p>
            <a:pPr marL="228600" indent="-228600" algn="l">
              <a:lnSpc>
                <a:spcPts val="3000"/>
              </a:lnSpc>
              <a:spcAft>
                <a:spcPts val="200"/>
              </a:spcAft>
              <a:buFont typeface="Arial"/>
              <a:buChar char="•"/>
            </a:pPr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Resources at the bedside (medications, equipment, roles)</a:t>
            </a:r>
          </a:p>
          <a:p>
            <a:pPr marL="228600" indent="-228600" algn="l">
              <a:lnSpc>
                <a:spcPts val="3000"/>
              </a:lnSpc>
              <a:spcAft>
                <a:spcPts val="200"/>
              </a:spcAft>
              <a:buFont typeface="Arial"/>
              <a:buChar char="•"/>
            </a:pPr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Ending the event and structured debrief</a:t>
            </a:r>
          </a:p>
          <a:p>
            <a:pPr algn="l">
              <a:lnSpc>
                <a:spcPts val="3400"/>
              </a:lnSpc>
              <a:spcAft>
                <a:spcPts val="600"/>
              </a:spcAft>
            </a:pPr>
            <a:r>
              <a:rPr lang="en-US" sz="36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Simulation block:</a:t>
            </a:r>
          </a:p>
          <a:p>
            <a:pPr marL="228600" indent="-228600" algn="l">
              <a:lnSpc>
                <a:spcPts val="3000"/>
              </a:lnSpc>
              <a:spcAft>
                <a:spcPts val="200"/>
              </a:spcAft>
              <a:buFont typeface="Arial"/>
              <a:buChar char="•"/>
            </a:pPr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 facilitated case scenarios with an intensivist</a:t>
            </a:r>
          </a:p>
          <a:p>
            <a:pPr marL="228600" indent="-228600" algn="l">
              <a:lnSpc>
                <a:spcPts val="3000"/>
              </a:lnSpc>
              <a:spcAft>
                <a:spcPts val="200"/>
              </a:spcAft>
              <a:buFont typeface="Arial"/>
              <a:buChar char="•"/>
            </a:pPr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Hands-on Zoll defibrillator practice (defib, pacing, rhythm interpretation)</a:t>
            </a:r>
          </a:p>
          <a:p>
            <a:pPr marL="228600" indent="-228600" algn="l">
              <a:lnSpc>
                <a:spcPts val="3000"/>
              </a:lnSpc>
              <a:spcAft>
                <a:spcPts val="200"/>
              </a:spcAft>
              <a:buFont typeface="Arial"/>
              <a:buChar char="•"/>
            </a:pPr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Group debrief after each scenario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D616A18-313F-4957-AE61-150FFA6F674D}"/>
              </a:ext>
            </a:extLst>
          </p:cNvPr>
          <p:cNvSpPr>
            <a:spLocks noGrp="1"/>
          </p:cNvSpPr>
          <p:nvPr/>
        </p:nvSpPr>
        <p:spPr>
          <a:xfrm>
            <a:off x="952500" y="22284308"/>
            <a:ext cx="10287000" cy="9340373"/>
          </a:xfrm>
          <a:prstGeom prst="rect">
            <a:avLst/>
          </a:prstGeom>
          <a:solidFill>
            <a:srgbClr val="FFFFFF"/>
          </a:solidFill>
          <a:ln w="1905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BF35E2-3874-43A4-BD88-BA1954C3453A}"/>
              </a:ext>
            </a:extLst>
          </p:cNvPr>
          <p:cNvSpPr>
            <a:spLocks noGrp="1"/>
          </p:cNvSpPr>
          <p:nvPr/>
        </p:nvSpPr>
        <p:spPr>
          <a:xfrm>
            <a:off x="952500" y="22284308"/>
            <a:ext cx="95250" cy="9340373"/>
          </a:xfrm>
          <a:prstGeom prst="rect">
            <a:avLst/>
          </a:prstGeom>
          <a:solidFill>
            <a:srgbClr val="101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BA8163B-E14F-428F-A881-06CB0B699554}"/>
              </a:ext>
            </a:extLst>
          </p:cNvPr>
          <p:cNvSpPr>
            <a:spLocks noGrp="1"/>
          </p:cNvSpPr>
          <p:nvPr/>
        </p:nvSpPr>
        <p:spPr>
          <a:xfrm>
            <a:off x="1276350" y="22601808"/>
            <a:ext cx="133350" cy="495300"/>
          </a:xfrm>
          <a:prstGeom prst="rect">
            <a:avLst/>
          </a:prstGeom>
          <a:solidFill>
            <a:srgbClr val="101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E8E9155-A064-4641-89D3-2B5ECBB16A5C}"/>
              </a:ext>
            </a:extLst>
          </p:cNvPr>
          <p:cNvSpPr>
            <a:spLocks noGrp="1"/>
          </p:cNvSpPr>
          <p:nvPr/>
        </p:nvSpPr>
        <p:spPr>
          <a:xfrm>
            <a:off x="1581150" y="22563708"/>
            <a:ext cx="9334500" cy="673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rPr>
              <a:t>METHODS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5A3D16B-30F4-455D-A143-B4E1716C5683}"/>
              </a:ext>
            </a:extLst>
          </p:cNvPr>
          <p:cNvSpPr>
            <a:spLocks noGrp="1"/>
          </p:cNvSpPr>
          <p:nvPr/>
        </p:nvSpPr>
        <p:spPr>
          <a:xfrm>
            <a:off x="1581150" y="23249508"/>
            <a:ext cx="9334500" cy="25400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F58362-8C72-47BE-BA6E-4AA442367D0C}"/>
              </a:ext>
            </a:extLst>
          </p:cNvPr>
          <p:cNvSpPr>
            <a:spLocks noGrp="1"/>
          </p:cNvSpPr>
          <p:nvPr/>
        </p:nvSpPr>
        <p:spPr>
          <a:xfrm>
            <a:off x="1619250" y="23579708"/>
            <a:ext cx="323850" cy="185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6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16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3B335E1-C6E7-4A90-A538-A67B8046CF9F}"/>
              </a:ext>
            </a:extLst>
          </p:cNvPr>
          <p:cNvSpPr>
            <a:spLocks noGrp="1"/>
          </p:cNvSpPr>
          <p:nvPr/>
        </p:nvSpPr>
        <p:spPr>
          <a:xfrm>
            <a:off x="2000250" y="23516208"/>
            <a:ext cx="8667750" cy="38779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/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Single-center IM residency. </a:t>
            </a:r>
          </a:p>
          <a:p>
            <a:pPr algn="l"/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Pre/post surveys rated self-reported confidence (not clinical competence) on five 1–10 items: code leadership, rapid-response leadership, rhythm interpretation, team dynamics, and attending-call tendency.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33DF0D5-E2A5-4FCC-A8FA-FAF1A4F21E97}"/>
              </a:ext>
            </a:extLst>
          </p:cNvPr>
          <p:cNvSpPr>
            <a:spLocks noGrp="1"/>
          </p:cNvSpPr>
          <p:nvPr/>
        </p:nvSpPr>
        <p:spPr>
          <a:xfrm>
            <a:off x="1619250" y="27838693"/>
            <a:ext cx="32385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6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16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F2D332A-22AC-4910-85FC-E38E4E333D5E}"/>
              </a:ext>
            </a:extLst>
          </p:cNvPr>
          <p:cNvSpPr>
            <a:spLocks noGrp="1"/>
          </p:cNvSpPr>
          <p:nvPr/>
        </p:nvSpPr>
        <p:spPr>
          <a:xfrm>
            <a:off x="2000250" y="27775193"/>
            <a:ext cx="8667750" cy="166199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Post-seminar survey rated helpfulness of modules, clinical cases, and group debriefing.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E6AAF21-91CD-4ECA-906D-897CA613367E}"/>
              </a:ext>
            </a:extLst>
          </p:cNvPr>
          <p:cNvSpPr>
            <a:spLocks noGrp="1"/>
          </p:cNvSpPr>
          <p:nvPr/>
        </p:nvSpPr>
        <p:spPr>
          <a:xfrm>
            <a:off x="1619250" y="29881686"/>
            <a:ext cx="32385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6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16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193F487-5629-4D7A-B73D-86F225B9F511}"/>
              </a:ext>
            </a:extLst>
          </p:cNvPr>
          <p:cNvSpPr>
            <a:spLocks noGrp="1"/>
          </p:cNvSpPr>
          <p:nvPr/>
        </p:nvSpPr>
        <p:spPr>
          <a:xfrm>
            <a:off x="2000250" y="29818186"/>
            <a:ext cx="8667750" cy="11079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/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Paired t-tests for pre→post change; linear regression for per-event slopes.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673DEB8-D361-430A-A7F6-DBBBFE706DA9}"/>
              </a:ext>
            </a:extLst>
          </p:cNvPr>
          <p:cNvSpPr>
            <a:spLocks noGrp="1"/>
          </p:cNvSpPr>
          <p:nvPr/>
        </p:nvSpPr>
        <p:spPr>
          <a:xfrm>
            <a:off x="11811000" y="5429250"/>
            <a:ext cx="20002500" cy="819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85CB114-C407-4F2A-B2F8-EEBFFBBC604F}"/>
              </a:ext>
            </a:extLst>
          </p:cNvPr>
          <p:cNvSpPr>
            <a:spLocks noGrp="1"/>
          </p:cNvSpPr>
          <p:nvPr/>
        </p:nvSpPr>
        <p:spPr>
          <a:xfrm>
            <a:off x="11811000" y="5429250"/>
            <a:ext cx="20002500" cy="114300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B27763A-6E3F-4062-821C-C173706A91D0}"/>
              </a:ext>
            </a:extLst>
          </p:cNvPr>
          <p:cNvSpPr>
            <a:spLocks noGrp="1"/>
          </p:cNvSpPr>
          <p:nvPr/>
        </p:nvSpPr>
        <p:spPr>
          <a:xfrm>
            <a:off x="12344400" y="5848350"/>
            <a:ext cx="5715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C2185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C2185B"/>
                </a:solidFill>
                <a:latin typeface="Aptos Display"/>
                <a:ea typeface="Aptos Display"/>
                <a:cs typeface="Aptos Display"/>
              </a:rPr>
              <a:t>MAIN TAKEAWAY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8909D66-4447-4E05-97AD-035DF8770AA3}"/>
              </a:ext>
            </a:extLst>
          </p:cNvPr>
          <p:cNvSpPr>
            <a:spLocks noGrp="1"/>
          </p:cNvSpPr>
          <p:nvPr/>
        </p:nvSpPr>
        <p:spPr>
          <a:xfrm>
            <a:off x="12344400" y="6616700"/>
            <a:ext cx="18935700" cy="355462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marL="285750" indent="-285750" algn="l">
              <a:lnSpc>
                <a:spcPts val="4400"/>
              </a:lnSpc>
              <a:spcAft>
                <a:spcPts val="600"/>
              </a:spcAft>
              <a:buFont typeface="Arial"/>
              <a:buChar char="•"/>
            </a:pPr>
            <a:r>
              <a:rPr lang="en-US" sz="4400" b="1" dirty="0">
                <a:solidFill>
                  <a:srgbClr val="10163A"/>
                </a:solidFill>
                <a:latin typeface="Aptos Display"/>
              </a:rPr>
              <a:t>Prior rapid-response exposure tracked with </a:t>
            </a:r>
            <a:r>
              <a:rPr lang="en-US" sz="4400" b="1" dirty="0">
                <a:solidFill>
                  <a:srgbClr val="C2185B"/>
                </a:solidFill>
                <a:latin typeface="Aptos Display"/>
              </a:rPr>
              <a:t>lower</a:t>
            </a:r>
            <a:r>
              <a:rPr lang="en-US" sz="4400" b="1" dirty="0">
                <a:solidFill>
                  <a:srgbClr val="10163A"/>
                </a:solidFill>
                <a:latin typeface="Aptos Display"/>
              </a:rPr>
              <a:t> team-management confidence; code and simulation exposure tracked with </a:t>
            </a:r>
            <a:r>
              <a:rPr lang="en-US" sz="4400" b="1" dirty="0">
                <a:solidFill>
                  <a:srgbClr val="C2185B"/>
                </a:solidFill>
                <a:latin typeface="Aptos Display"/>
              </a:rPr>
              <a:t>higher</a:t>
            </a:r>
            <a:r>
              <a:rPr lang="en-US" sz="4400" b="1" dirty="0">
                <a:solidFill>
                  <a:srgbClr val="10163A"/>
                </a:solidFill>
                <a:latin typeface="Aptos Display"/>
              </a:rPr>
              <a:t> confidence.</a:t>
            </a:r>
          </a:p>
          <a:p>
            <a:pPr marL="285750" indent="-285750" algn="l">
              <a:lnSpc>
                <a:spcPts val="4400"/>
              </a:lnSpc>
              <a:spcAft>
                <a:spcPts val="600"/>
              </a:spcAft>
              <a:buFont typeface="Arial"/>
              <a:buChar char="•"/>
            </a:pPr>
            <a:r>
              <a:rPr lang="en-US" sz="4400" b="1" dirty="0">
                <a:solidFill>
                  <a:srgbClr val="10163A"/>
                </a:solidFill>
                <a:latin typeface="Aptos Display"/>
              </a:rPr>
              <a:t>The seminar produced a clear gain in rhythm-recognition confidence </a:t>
            </a:r>
            <a:r>
              <a:rPr lang="en-US" sz="4400" b="1" dirty="0">
                <a:solidFill>
                  <a:srgbClr val="C2185B"/>
                </a:solidFill>
                <a:latin typeface="Aptos Display"/>
              </a:rPr>
              <a:t>(+1.63 / 10)</a:t>
            </a:r>
            <a:r>
              <a:rPr lang="en-US" sz="4400" b="1" dirty="0">
                <a:solidFill>
                  <a:srgbClr val="10163A"/>
                </a:solidFill>
                <a:latin typeface="Aptos Display"/>
              </a:rPr>
              <a:t>.</a:t>
            </a:r>
          </a:p>
          <a:p>
            <a:pPr marL="285750" indent="-285750" algn="l">
              <a:lnSpc>
                <a:spcPts val="4400"/>
              </a:lnSpc>
              <a:buFont typeface="Arial"/>
              <a:buChar char="•"/>
            </a:pPr>
            <a:r>
              <a:rPr lang="en-US" sz="4400" b="1" dirty="0">
                <a:solidFill>
                  <a:srgbClr val="10163A"/>
                </a:solidFill>
                <a:latin typeface="Aptos Display"/>
              </a:rPr>
              <a:t>No significant change in confidence regarding team-dynamics manage or in attending-call tendency.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10F8DB4-67CA-4284-9254-AA2262E45693}"/>
              </a:ext>
            </a:extLst>
          </p:cNvPr>
          <p:cNvSpPr>
            <a:spLocks noGrp="1"/>
          </p:cNvSpPr>
          <p:nvPr/>
        </p:nvSpPr>
        <p:spPr>
          <a:xfrm>
            <a:off x="12344400" y="10820400"/>
            <a:ext cx="5905500" cy="2476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21C6054-FF95-4B19-B107-1D92724FF2DA}"/>
              </a:ext>
            </a:extLst>
          </p:cNvPr>
          <p:cNvSpPr>
            <a:spLocks noGrp="1"/>
          </p:cNvSpPr>
          <p:nvPr/>
        </p:nvSpPr>
        <p:spPr>
          <a:xfrm>
            <a:off x="12344400" y="10820400"/>
            <a:ext cx="104775" cy="2476500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0AF3C32-BA33-4B2D-A85E-409322552783}"/>
              </a:ext>
            </a:extLst>
          </p:cNvPr>
          <p:cNvSpPr>
            <a:spLocks noGrp="1"/>
          </p:cNvSpPr>
          <p:nvPr/>
        </p:nvSpPr>
        <p:spPr>
          <a:xfrm>
            <a:off x="12668250" y="11068050"/>
            <a:ext cx="52578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4350" b="1" dirty="0">
                <a:solidFill>
                  <a:srgbClr val="C2185B"/>
                </a:solidFill>
                <a:latin typeface="Aptos Display"/>
                <a:ea typeface="Aptos Display"/>
                <a:cs typeface="Aptos Display"/>
              </a:rPr>
              <a:t>+0.49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9800DC5-2885-4F71-8DDD-C06AFCD3D988}"/>
              </a:ext>
            </a:extLst>
          </p:cNvPr>
          <p:cNvSpPr>
            <a:spLocks noGrp="1"/>
          </p:cNvSpPr>
          <p:nvPr/>
        </p:nvSpPr>
        <p:spPr>
          <a:xfrm>
            <a:off x="12668250" y="11849100"/>
            <a:ext cx="5257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3400" b="1" dirty="0">
                <a:solidFill>
                  <a:srgbClr val="10163A"/>
                </a:solidFill>
                <a:latin typeface="Aptos Display"/>
                <a:ea typeface="Aptos Display"/>
                <a:cs typeface="Aptos Display"/>
              </a:rPr>
              <a:t>per code blue attended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E84B13E-B6A2-42FD-A837-4997A8FA85A0}"/>
              </a:ext>
            </a:extLst>
          </p:cNvPr>
          <p:cNvSpPr>
            <a:spLocks noGrp="1"/>
          </p:cNvSpPr>
          <p:nvPr/>
        </p:nvSpPr>
        <p:spPr>
          <a:xfrm>
            <a:off x="12668250" y="12439650"/>
            <a:ext cx="52578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2400" b="0" dirty="0">
                <a:solidFill>
                  <a:srgbClr val="5B6F82"/>
                </a:solidFill>
                <a:latin typeface="Aptos"/>
                <a:ea typeface="Aptos"/>
                <a:cs typeface="Aptos"/>
              </a:rPr>
              <a:t>95% CI: +0.13 to +0.81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5CA4993-2F57-4850-98DA-504511D05305}"/>
              </a:ext>
            </a:extLst>
          </p:cNvPr>
          <p:cNvSpPr>
            <a:spLocks noGrp="1"/>
          </p:cNvSpPr>
          <p:nvPr/>
        </p:nvSpPr>
        <p:spPr>
          <a:xfrm>
            <a:off x="18859500" y="10820400"/>
            <a:ext cx="5905500" cy="2476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3B095AD-4DE2-46DE-AD5D-1B4B167E9F21}"/>
              </a:ext>
            </a:extLst>
          </p:cNvPr>
          <p:cNvSpPr>
            <a:spLocks noGrp="1"/>
          </p:cNvSpPr>
          <p:nvPr/>
        </p:nvSpPr>
        <p:spPr>
          <a:xfrm>
            <a:off x="18859500" y="10820400"/>
            <a:ext cx="104775" cy="2476500"/>
          </a:xfrm>
          <a:prstGeom prst="rect">
            <a:avLst/>
          </a:prstGeom>
          <a:solidFill>
            <a:srgbClr val="5B6F8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9AD3183-9FAD-4A6A-B957-AD0ED053F05C}"/>
              </a:ext>
            </a:extLst>
          </p:cNvPr>
          <p:cNvSpPr>
            <a:spLocks noGrp="1"/>
          </p:cNvSpPr>
          <p:nvPr/>
        </p:nvSpPr>
        <p:spPr>
          <a:xfrm>
            <a:off x="19183350" y="11068050"/>
            <a:ext cx="52578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4350" b="1" dirty="0">
                <a:solidFill>
                  <a:srgbClr val="C2185B"/>
                </a:solidFill>
                <a:latin typeface="Aptos Display"/>
                <a:ea typeface="Aptos Display"/>
                <a:cs typeface="Aptos Display"/>
              </a:rPr>
              <a:t>+0.47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3070CDA-EE37-4304-A96D-4A14719ED21C}"/>
              </a:ext>
            </a:extLst>
          </p:cNvPr>
          <p:cNvSpPr>
            <a:spLocks noGrp="1"/>
          </p:cNvSpPr>
          <p:nvPr/>
        </p:nvSpPr>
        <p:spPr>
          <a:xfrm>
            <a:off x="19335750" y="11849100"/>
            <a:ext cx="5257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3400" b="1" dirty="0">
                <a:solidFill>
                  <a:srgbClr val="10163A"/>
                </a:solidFill>
                <a:latin typeface="Aptos Display"/>
                <a:ea typeface="Aptos Display"/>
                <a:cs typeface="Aptos Display"/>
              </a:rPr>
              <a:t>per simulation completed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6DD8F7E-242B-4CD1-8548-FD8EC47CDD44}"/>
              </a:ext>
            </a:extLst>
          </p:cNvPr>
          <p:cNvSpPr>
            <a:spLocks noGrp="1"/>
          </p:cNvSpPr>
          <p:nvPr/>
        </p:nvSpPr>
        <p:spPr>
          <a:xfrm>
            <a:off x="19183350" y="12439650"/>
            <a:ext cx="52578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2400" b="0" dirty="0">
                <a:solidFill>
                  <a:srgbClr val="5B6F82"/>
                </a:solidFill>
                <a:latin typeface="Aptos"/>
                <a:ea typeface="Aptos"/>
                <a:cs typeface="Aptos"/>
              </a:rPr>
              <a:t>95% CI: +0.03 to +0.94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7D47A15-A847-4445-8A98-B6DFBD10FD16}"/>
              </a:ext>
            </a:extLst>
          </p:cNvPr>
          <p:cNvSpPr>
            <a:spLocks noGrp="1"/>
          </p:cNvSpPr>
          <p:nvPr/>
        </p:nvSpPr>
        <p:spPr>
          <a:xfrm>
            <a:off x="25374600" y="10820400"/>
            <a:ext cx="5905500" cy="2476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15B0618-A52F-42FD-9D00-CB5CFE38F8F7}"/>
              </a:ext>
            </a:extLst>
          </p:cNvPr>
          <p:cNvSpPr>
            <a:spLocks noGrp="1"/>
          </p:cNvSpPr>
          <p:nvPr/>
        </p:nvSpPr>
        <p:spPr>
          <a:xfrm>
            <a:off x="25374600" y="10820400"/>
            <a:ext cx="104775" cy="2476500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564A19E-0D12-41DE-90CC-597FD8C86867}"/>
              </a:ext>
            </a:extLst>
          </p:cNvPr>
          <p:cNvSpPr>
            <a:spLocks noGrp="1"/>
          </p:cNvSpPr>
          <p:nvPr/>
        </p:nvSpPr>
        <p:spPr>
          <a:xfrm>
            <a:off x="25698450" y="11068050"/>
            <a:ext cx="52578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4350" b="1" dirty="0">
                <a:solidFill>
                  <a:srgbClr val="5B6F82"/>
                </a:solidFill>
                <a:latin typeface="Aptos Display"/>
                <a:ea typeface="Aptos Display"/>
                <a:cs typeface="Aptos Display"/>
              </a:rPr>
              <a:t>-0.07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23C31E8-F90E-4B7F-8D13-94C292D96149}"/>
              </a:ext>
            </a:extLst>
          </p:cNvPr>
          <p:cNvSpPr>
            <a:spLocks noGrp="1"/>
          </p:cNvSpPr>
          <p:nvPr/>
        </p:nvSpPr>
        <p:spPr>
          <a:xfrm>
            <a:off x="25698450" y="11849100"/>
            <a:ext cx="5257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3400" b="1" dirty="0">
                <a:solidFill>
                  <a:srgbClr val="10163A"/>
                </a:solidFill>
                <a:latin typeface="Aptos Display"/>
                <a:ea typeface="Aptos Display"/>
                <a:cs typeface="Aptos Display"/>
              </a:rPr>
              <a:t>per rapid response attended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09CC60A-645D-4938-B5E2-5D0719F73134}"/>
              </a:ext>
            </a:extLst>
          </p:cNvPr>
          <p:cNvSpPr>
            <a:spLocks noGrp="1"/>
          </p:cNvSpPr>
          <p:nvPr/>
        </p:nvSpPr>
        <p:spPr>
          <a:xfrm>
            <a:off x="25698450" y="12439650"/>
            <a:ext cx="52578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2400" b="0" dirty="0">
                <a:solidFill>
                  <a:srgbClr val="5B6F82"/>
                </a:solidFill>
                <a:latin typeface="Aptos"/>
                <a:ea typeface="Aptos"/>
                <a:cs typeface="Aptos"/>
              </a:rPr>
              <a:t>95% CI: -0.17 to +0.03 (n.s.)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BF25880-A37C-4378-9205-12901DE02F78}"/>
              </a:ext>
            </a:extLst>
          </p:cNvPr>
          <p:cNvSpPr>
            <a:spLocks noGrp="1"/>
          </p:cNvSpPr>
          <p:nvPr/>
        </p:nvSpPr>
        <p:spPr>
          <a:xfrm>
            <a:off x="11811000" y="24860250"/>
            <a:ext cx="20002500" cy="622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048994D-7210-4871-986A-9E59B90D8E5E}"/>
              </a:ext>
            </a:extLst>
          </p:cNvPr>
          <p:cNvSpPr>
            <a:spLocks noGrp="1"/>
          </p:cNvSpPr>
          <p:nvPr/>
        </p:nvSpPr>
        <p:spPr>
          <a:xfrm>
            <a:off x="12249150" y="25203150"/>
            <a:ext cx="133350" cy="495300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D3A42F4-1B58-4390-B6F0-4979B2805548}"/>
              </a:ext>
            </a:extLst>
          </p:cNvPr>
          <p:cNvSpPr>
            <a:spLocks noGrp="1"/>
          </p:cNvSpPr>
          <p:nvPr/>
        </p:nvSpPr>
        <p:spPr>
          <a:xfrm>
            <a:off x="12553950" y="25165050"/>
            <a:ext cx="188214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330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rPr>
              <a:t>Team-Leadership Confidence Effects — </a:t>
            </a:r>
            <a:r>
              <a:rPr lang="en-US" sz="3300" b="1" dirty="0">
                <a:solidFill>
                  <a:srgbClr val="10163A"/>
                </a:solidFill>
                <a:latin typeface="Aptos Display"/>
                <a:ea typeface="Aptos Display"/>
                <a:cs typeface="Aptos Display"/>
              </a:rPr>
              <a:t>FOREST PLOT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4D81454-7700-4F41-9415-B665EBB4FAB9}"/>
              </a:ext>
            </a:extLst>
          </p:cNvPr>
          <p:cNvSpPr>
            <a:spLocks noGrp="1"/>
          </p:cNvSpPr>
          <p:nvPr/>
        </p:nvSpPr>
        <p:spPr>
          <a:xfrm>
            <a:off x="12553950" y="25850850"/>
            <a:ext cx="18821400" cy="28575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30942D5-0F85-4147-BE6C-4A2B8655786E}"/>
              </a:ext>
            </a:extLst>
          </p:cNvPr>
          <p:cNvSpPr>
            <a:spLocks noGrp="1"/>
          </p:cNvSpPr>
          <p:nvPr/>
        </p:nvSpPr>
        <p:spPr>
          <a:xfrm>
            <a:off x="12496800" y="26003250"/>
            <a:ext cx="1905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2200" b="0" dirty="0">
                <a:solidFill>
                  <a:srgbClr val="5B6F82"/>
                </a:solidFill>
                <a:latin typeface="Aptos"/>
                <a:ea typeface="Aptos"/>
                <a:cs typeface="Aptos"/>
              </a:rPr>
              <a:t>Mean change after seminar (top) and change per prior event attended (bottom), with 95% CI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B35BDC5-C8AC-452D-9E30-1CFC173FDA04}"/>
              </a:ext>
            </a:extLst>
          </p:cNvPr>
          <p:cNvSpPr>
            <a:spLocks noGrp="1"/>
          </p:cNvSpPr>
          <p:nvPr/>
        </p:nvSpPr>
        <p:spPr>
          <a:xfrm>
            <a:off x="12560300" y="14389100"/>
            <a:ext cx="18821400" cy="6731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85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300" b="1" dirty="0">
                <a:solidFill>
                  <a:srgbClr val="10163A"/>
                </a:solidFill>
                <a:latin typeface="Aptos Display"/>
                <a:ea typeface="Aptos Display"/>
                <a:cs typeface="Aptos Display"/>
              </a:rPr>
              <a:t>SURVEY RESPONSES</a:t>
            </a:r>
            <a:endParaRPr sz="3300" b="1" dirty="0">
              <a:solidFill>
                <a:srgbClr val="10163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39EB850-DBA0-467C-ABD5-D6A9EA2DBDD0}"/>
              </a:ext>
            </a:extLst>
          </p:cNvPr>
          <p:cNvSpPr>
            <a:spLocks noGrp="1"/>
          </p:cNvSpPr>
          <p:nvPr/>
        </p:nvSpPr>
        <p:spPr>
          <a:xfrm>
            <a:off x="12077700" y="15341600"/>
            <a:ext cx="19469100" cy="514350"/>
          </a:xfrm>
          <a:prstGeom prst="rect">
            <a:avLst/>
          </a:prstGeom>
          <a:solidFill>
            <a:srgbClr val="0E13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DC5BBE6-AADC-4F15-8C61-780B7A0C5235}"/>
              </a:ext>
            </a:extLst>
          </p:cNvPr>
          <p:cNvSpPr>
            <a:spLocks noGrp="1"/>
          </p:cNvSpPr>
          <p:nvPr/>
        </p:nvSpPr>
        <p:spPr>
          <a:xfrm>
            <a:off x="12249150" y="15417800"/>
            <a:ext cx="1289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Prior Event Experience  </a:t>
            </a:r>
            <a:r>
              <a:rPr lang="en-US" sz="2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(n=31, pre-survey)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1917691-8EA2-4B17-8236-30770BE4007A}"/>
              </a:ext>
            </a:extLst>
          </p:cNvPr>
          <p:cNvSpPr>
            <a:spLocks noGrp="1"/>
          </p:cNvSpPr>
          <p:nvPr/>
        </p:nvSpPr>
        <p:spPr>
          <a:xfrm>
            <a:off x="25469850" y="15417800"/>
            <a:ext cx="5924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Median [IQR]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0A097588-63C3-4A4F-AC79-3045F9E62591}"/>
              </a:ext>
            </a:extLst>
          </p:cNvPr>
          <p:cNvSpPr>
            <a:spLocks noGrp="1"/>
          </p:cNvSpPr>
          <p:nvPr/>
        </p:nvSpPr>
        <p:spPr>
          <a:xfrm>
            <a:off x="12077700" y="15849600"/>
            <a:ext cx="194691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5B21D75-D985-408F-B144-92A28D8F2CFD}"/>
              </a:ext>
            </a:extLst>
          </p:cNvPr>
          <p:cNvSpPr>
            <a:spLocks noGrp="1"/>
          </p:cNvSpPr>
          <p:nvPr/>
        </p:nvSpPr>
        <p:spPr>
          <a:xfrm>
            <a:off x="25317450" y="15849600"/>
            <a:ext cx="14288" cy="4953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4290379-02BC-4EE5-A549-F273631B3679}"/>
              </a:ext>
            </a:extLst>
          </p:cNvPr>
          <p:cNvSpPr>
            <a:spLocks noGrp="1"/>
          </p:cNvSpPr>
          <p:nvPr/>
        </p:nvSpPr>
        <p:spPr>
          <a:xfrm>
            <a:off x="12249150" y="15925800"/>
            <a:ext cx="12915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Number of Rapid Responses Attended as an Intern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356F802-9556-4FD2-9C7A-7A6DAB0D7778}"/>
              </a:ext>
            </a:extLst>
          </p:cNvPr>
          <p:cNvSpPr>
            <a:spLocks noGrp="1"/>
          </p:cNvSpPr>
          <p:nvPr/>
        </p:nvSpPr>
        <p:spPr>
          <a:xfrm>
            <a:off x="25469850" y="15925800"/>
            <a:ext cx="592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15 [10 to 17.5]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DDC2324-82FC-49AA-AD3E-AE47327CAAEC}"/>
              </a:ext>
            </a:extLst>
          </p:cNvPr>
          <p:cNvSpPr>
            <a:spLocks noGrp="1"/>
          </p:cNvSpPr>
          <p:nvPr/>
        </p:nvSpPr>
        <p:spPr>
          <a:xfrm>
            <a:off x="12077700" y="16344900"/>
            <a:ext cx="194691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EDAAF17-63E4-4816-B54A-0D1EE474C0EB}"/>
              </a:ext>
            </a:extLst>
          </p:cNvPr>
          <p:cNvSpPr>
            <a:spLocks noGrp="1"/>
          </p:cNvSpPr>
          <p:nvPr/>
        </p:nvSpPr>
        <p:spPr>
          <a:xfrm>
            <a:off x="25317450" y="16344900"/>
            <a:ext cx="14288" cy="4953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B2B0D1E-EB72-4E8A-9DB0-ADC6B62EA533}"/>
              </a:ext>
            </a:extLst>
          </p:cNvPr>
          <p:cNvSpPr>
            <a:spLocks noGrp="1"/>
          </p:cNvSpPr>
          <p:nvPr/>
        </p:nvSpPr>
        <p:spPr>
          <a:xfrm>
            <a:off x="12249150" y="16421100"/>
            <a:ext cx="12915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Number of Code Blues Attended as an Intern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8AB9107-668B-45C5-AF11-A7718FA67A2A}"/>
              </a:ext>
            </a:extLst>
          </p:cNvPr>
          <p:cNvSpPr>
            <a:spLocks noGrp="1"/>
          </p:cNvSpPr>
          <p:nvPr/>
        </p:nvSpPr>
        <p:spPr>
          <a:xfrm>
            <a:off x="25469850" y="16421100"/>
            <a:ext cx="592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 [1.5 to 4]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EE155C2-385C-4DA3-98A3-EAE01EFBFC43}"/>
              </a:ext>
            </a:extLst>
          </p:cNvPr>
          <p:cNvSpPr>
            <a:spLocks noGrp="1"/>
          </p:cNvSpPr>
          <p:nvPr/>
        </p:nvSpPr>
        <p:spPr>
          <a:xfrm>
            <a:off x="12077700" y="16840200"/>
            <a:ext cx="194691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235337C-ED44-48C7-9D39-79A2BA9FB1B4}"/>
              </a:ext>
            </a:extLst>
          </p:cNvPr>
          <p:cNvSpPr>
            <a:spLocks noGrp="1"/>
          </p:cNvSpPr>
          <p:nvPr/>
        </p:nvSpPr>
        <p:spPr>
          <a:xfrm>
            <a:off x="25317450" y="16840200"/>
            <a:ext cx="14288" cy="4953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1EEC483-A13F-4D17-B0C3-0D7C57902573}"/>
              </a:ext>
            </a:extLst>
          </p:cNvPr>
          <p:cNvSpPr>
            <a:spLocks noGrp="1"/>
          </p:cNvSpPr>
          <p:nvPr/>
        </p:nvSpPr>
        <p:spPr>
          <a:xfrm>
            <a:off x="12249150" y="16916400"/>
            <a:ext cx="12915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Number of Simulations Attended as an Intern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A042942-8263-4596-BF7F-55C74824260A}"/>
              </a:ext>
            </a:extLst>
          </p:cNvPr>
          <p:cNvSpPr>
            <a:spLocks noGrp="1"/>
          </p:cNvSpPr>
          <p:nvPr/>
        </p:nvSpPr>
        <p:spPr>
          <a:xfrm>
            <a:off x="25469850" y="16916400"/>
            <a:ext cx="592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 [0.25 to 2]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6331E55-0D74-4670-B9E2-EB494CDFA0FE}"/>
              </a:ext>
            </a:extLst>
          </p:cNvPr>
          <p:cNvSpPr>
            <a:spLocks noGrp="1"/>
          </p:cNvSpPr>
          <p:nvPr/>
        </p:nvSpPr>
        <p:spPr>
          <a:xfrm>
            <a:off x="12077700" y="17602200"/>
            <a:ext cx="19469100" cy="514350"/>
          </a:xfrm>
          <a:prstGeom prst="rect">
            <a:avLst/>
          </a:prstGeom>
          <a:solidFill>
            <a:srgbClr val="0E13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05F3452-BDB2-4033-A4CC-E1865E4DCC51}"/>
              </a:ext>
            </a:extLst>
          </p:cNvPr>
          <p:cNvSpPr>
            <a:spLocks noGrp="1"/>
          </p:cNvSpPr>
          <p:nvPr/>
        </p:nvSpPr>
        <p:spPr>
          <a:xfrm>
            <a:off x="12249150" y="17678400"/>
            <a:ext cx="1289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Ratings of Curricular Components  </a:t>
            </a:r>
            <a:r>
              <a:rPr lang="en-US" sz="2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(n=23, paired)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AF0B101-7A29-4888-9B82-2A6AEF8CB15C}"/>
              </a:ext>
            </a:extLst>
          </p:cNvPr>
          <p:cNvSpPr>
            <a:spLocks noGrp="1"/>
          </p:cNvSpPr>
          <p:nvPr/>
        </p:nvSpPr>
        <p:spPr>
          <a:xfrm>
            <a:off x="25469850" y="17678400"/>
            <a:ext cx="5924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Median [IQR]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38FB78E-50AC-447D-B951-08B17116977B}"/>
              </a:ext>
            </a:extLst>
          </p:cNvPr>
          <p:cNvSpPr>
            <a:spLocks noGrp="1"/>
          </p:cNvSpPr>
          <p:nvPr/>
        </p:nvSpPr>
        <p:spPr>
          <a:xfrm>
            <a:off x="12077700" y="18116550"/>
            <a:ext cx="194691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9B13909-FF37-4F85-BF44-661842E76155}"/>
              </a:ext>
            </a:extLst>
          </p:cNvPr>
          <p:cNvSpPr>
            <a:spLocks noGrp="1"/>
          </p:cNvSpPr>
          <p:nvPr/>
        </p:nvSpPr>
        <p:spPr>
          <a:xfrm>
            <a:off x="25317450" y="18116550"/>
            <a:ext cx="14288" cy="4953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006D6FF-732F-4F6D-B371-2DCE289A24BC}"/>
              </a:ext>
            </a:extLst>
          </p:cNvPr>
          <p:cNvSpPr>
            <a:spLocks noGrp="1"/>
          </p:cNvSpPr>
          <p:nvPr/>
        </p:nvSpPr>
        <p:spPr>
          <a:xfrm>
            <a:off x="12249150" y="18192750"/>
            <a:ext cx="12915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Perceived effectiveness of lecture modules (1-10)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48401AF-BE71-4747-9F8F-EA12C7974229}"/>
              </a:ext>
            </a:extLst>
          </p:cNvPr>
          <p:cNvSpPr>
            <a:spLocks noGrp="1"/>
          </p:cNvSpPr>
          <p:nvPr/>
        </p:nvSpPr>
        <p:spPr>
          <a:xfrm>
            <a:off x="25469850" y="18192750"/>
            <a:ext cx="592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 [8 to 10]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150698C-EEAA-4E3C-92DC-C15D3B53B9E7}"/>
              </a:ext>
            </a:extLst>
          </p:cNvPr>
          <p:cNvSpPr>
            <a:spLocks noGrp="1"/>
          </p:cNvSpPr>
          <p:nvPr/>
        </p:nvSpPr>
        <p:spPr>
          <a:xfrm>
            <a:off x="12077700" y="18611850"/>
            <a:ext cx="194691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F4DDA84-B71C-49EF-95CC-DBE16425F266}"/>
              </a:ext>
            </a:extLst>
          </p:cNvPr>
          <p:cNvSpPr>
            <a:spLocks noGrp="1"/>
          </p:cNvSpPr>
          <p:nvPr/>
        </p:nvSpPr>
        <p:spPr>
          <a:xfrm>
            <a:off x="25317450" y="18611850"/>
            <a:ext cx="14288" cy="4953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52FAEB1-CEF1-4A1A-ADEF-87B252C30D76}"/>
              </a:ext>
            </a:extLst>
          </p:cNvPr>
          <p:cNvSpPr>
            <a:spLocks noGrp="1"/>
          </p:cNvSpPr>
          <p:nvPr/>
        </p:nvSpPr>
        <p:spPr>
          <a:xfrm>
            <a:off x="12249150" y="18688050"/>
            <a:ext cx="12915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Perceived effectiveness of case simulation (1-10)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4E0BF69-6DC2-4CD4-9555-589D641D8E2D}"/>
              </a:ext>
            </a:extLst>
          </p:cNvPr>
          <p:cNvSpPr>
            <a:spLocks noGrp="1"/>
          </p:cNvSpPr>
          <p:nvPr/>
        </p:nvSpPr>
        <p:spPr>
          <a:xfrm>
            <a:off x="25469850" y="18688050"/>
            <a:ext cx="592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 [8 to 10]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F5D7087-79D9-4816-B5F7-B8755668B4E0}"/>
              </a:ext>
            </a:extLst>
          </p:cNvPr>
          <p:cNvSpPr>
            <a:spLocks noGrp="1"/>
          </p:cNvSpPr>
          <p:nvPr/>
        </p:nvSpPr>
        <p:spPr>
          <a:xfrm>
            <a:off x="12077700" y="19107150"/>
            <a:ext cx="194691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3537DE6-AECB-4854-B6F3-109EDBEB304E}"/>
              </a:ext>
            </a:extLst>
          </p:cNvPr>
          <p:cNvSpPr>
            <a:spLocks noGrp="1"/>
          </p:cNvSpPr>
          <p:nvPr/>
        </p:nvSpPr>
        <p:spPr>
          <a:xfrm>
            <a:off x="25317450" y="19107150"/>
            <a:ext cx="14288" cy="4953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FDD90AD-F5BD-41FD-BAD0-7CCBF07BB181}"/>
              </a:ext>
            </a:extLst>
          </p:cNvPr>
          <p:cNvSpPr>
            <a:spLocks noGrp="1"/>
          </p:cNvSpPr>
          <p:nvPr/>
        </p:nvSpPr>
        <p:spPr>
          <a:xfrm>
            <a:off x="12249150" y="19183350"/>
            <a:ext cx="12915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Perceived effectiveness of lecture discussion (1-10)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BC0FECDD-1F79-46E3-9EAD-B5A0FA8ADB1A}"/>
              </a:ext>
            </a:extLst>
          </p:cNvPr>
          <p:cNvSpPr>
            <a:spLocks noGrp="1"/>
          </p:cNvSpPr>
          <p:nvPr/>
        </p:nvSpPr>
        <p:spPr>
          <a:xfrm>
            <a:off x="25469850" y="19183350"/>
            <a:ext cx="592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 [7.5 to 10]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3B900B8D-981A-4157-B25C-E1058CC06322}"/>
              </a:ext>
            </a:extLst>
          </p:cNvPr>
          <p:cNvSpPr>
            <a:spLocks noGrp="1"/>
          </p:cNvSpPr>
          <p:nvPr/>
        </p:nvSpPr>
        <p:spPr>
          <a:xfrm>
            <a:off x="12077700" y="19869150"/>
            <a:ext cx="19469100" cy="552450"/>
          </a:xfrm>
          <a:prstGeom prst="rect">
            <a:avLst/>
          </a:prstGeom>
          <a:solidFill>
            <a:srgbClr val="0E13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79D4DCA-176D-4AB1-B7D1-B83C2A2B7DC6}"/>
              </a:ext>
            </a:extLst>
          </p:cNvPr>
          <p:cNvSpPr>
            <a:spLocks noGrp="1"/>
          </p:cNvSpPr>
          <p:nvPr/>
        </p:nvSpPr>
        <p:spPr>
          <a:xfrm>
            <a:off x="12249150" y="19945350"/>
            <a:ext cx="12896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Team-Leadership Confidence Association with prior exposure  </a:t>
            </a:r>
            <a:r>
              <a:rPr lang="en-US" sz="2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(n=23, post-survey)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806591F-8F91-492B-BAEE-937E9E665FEF}"/>
              </a:ext>
            </a:extLst>
          </p:cNvPr>
          <p:cNvSpPr>
            <a:spLocks noGrp="1"/>
          </p:cNvSpPr>
          <p:nvPr/>
        </p:nvSpPr>
        <p:spPr>
          <a:xfrm>
            <a:off x="25469850" y="19945350"/>
            <a:ext cx="5924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Change per event attended (95% CI)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1B5D415-1FB2-45C0-805C-2BF4638D7E53}"/>
              </a:ext>
            </a:extLst>
          </p:cNvPr>
          <p:cNvSpPr>
            <a:spLocks noGrp="1"/>
          </p:cNvSpPr>
          <p:nvPr/>
        </p:nvSpPr>
        <p:spPr>
          <a:xfrm>
            <a:off x="12077700" y="20421600"/>
            <a:ext cx="194691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BBBC866-8827-4909-A790-EDE8B1D518E4}"/>
              </a:ext>
            </a:extLst>
          </p:cNvPr>
          <p:cNvSpPr>
            <a:spLocks noGrp="1"/>
          </p:cNvSpPr>
          <p:nvPr/>
        </p:nvSpPr>
        <p:spPr>
          <a:xfrm>
            <a:off x="25317450" y="20421600"/>
            <a:ext cx="14288" cy="5334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C0CD1B86-D378-4C6C-8909-32CC5FBFE4FE}"/>
              </a:ext>
            </a:extLst>
          </p:cNvPr>
          <p:cNvSpPr>
            <a:spLocks noGrp="1"/>
          </p:cNvSpPr>
          <p:nvPr/>
        </p:nvSpPr>
        <p:spPr>
          <a:xfrm>
            <a:off x="12249150" y="20497800"/>
            <a:ext cx="1291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Per rapid response attended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CCF801A-CFF9-490A-959E-CD5E2DB143DC}"/>
              </a:ext>
            </a:extLst>
          </p:cNvPr>
          <p:cNvSpPr>
            <a:spLocks noGrp="1"/>
          </p:cNvSpPr>
          <p:nvPr/>
        </p:nvSpPr>
        <p:spPr>
          <a:xfrm>
            <a:off x="25469850" y="20497800"/>
            <a:ext cx="5924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1">
                <a:solidFill>
                  <a:srgbClr val="008C8C"/>
                </a:solidFill>
                <a:latin typeface="Aptos"/>
                <a:ea typeface="Aptos"/>
                <a:cs typeface="Aptos"/>
              </a:defRPr>
            </a:pPr>
            <a:r>
              <a:rPr sz="2600" b="1">
                <a:solidFill>
                  <a:srgbClr val="008C8C"/>
                </a:solidFill>
                <a:latin typeface="Aptos"/>
                <a:ea typeface="Aptos"/>
                <a:cs typeface="Aptos"/>
              </a:rPr>
              <a:t>-0.07 (-0.17 to 0.03)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E499DB9-C0C4-46A8-A41B-5618E9BDF87F}"/>
              </a:ext>
            </a:extLst>
          </p:cNvPr>
          <p:cNvSpPr>
            <a:spLocks noGrp="1"/>
          </p:cNvSpPr>
          <p:nvPr/>
        </p:nvSpPr>
        <p:spPr>
          <a:xfrm>
            <a:off x="12077700" y="20955000"/>
            <a:ext cx="194691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FA80280-4B14-4147-B80D-AAB7707D18B6}"/>
              </a:ext>
            </a:extLst>
          </p:cNvPr>
          <p:cNvSpPr>
            <a:spLocks noGrp="1"/>
          </p:cNvSpPr>
          <p:nvPr/>
        </p:nvSpPr>
        <p:spPr>
          <a:xfrm>
            <a:off x="25317450" y="20955000"/>
            <a:ext cx="14288" cy="5334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5CAADEF-4FD1-4226-81A9-0914B63C973D}"/>
              </a:ext>
            </a:extLst>
          </p:cNvPr>
          <p:cNvSpPr>
            <a:spLocks noGrp="1"/>
          </p:cNvSpPr>
          <p:nvPr/>
        </p:nvSpPr>
        <p:spPr>
          <a:xfrm>
            <a:off x="12249150" y="21031200"/>
            <a:ext cx="1291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Per code blue attended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13FC73E-5577-461C-95C9-70A98820E358}"/>
              </a:ext>
            </a:extLst>
          </p:cNvPr>
          <p:cNvSpPr>
            <a:spLocks noGrp="1"/>
          </p:cNvSpPr>
          <p:nvPr/>
        </p:nvSpPr>
        <p:spPr>
          <a:xfrm>
            <a:off x="25469850" y="21031200"/>
            <a:ext cx="5924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1">
                <a:solidFill>
                  <a:srgbClr val="10163A"/>
                </a:solidFill>
                <a:latin typeface="Aptos"/>
                <a:ea typeface="Aptos"/>
                <a:cs typeface="Aptos"/>
              </a:defRPr>
            </a:pPr>
            <a:r>
              <a:rPr sz="2600" b="1">
                <a:solidFill>
                  <a:srgbClr val="10163A"/>
                </a:solidFill>
                <a:latin typeface="Aptos"/>
                <a:ea typeface="Aptos"/>
                <a:cs typeface="Aptos"/>
              </a:rPr>
              <a:t>0.47 (0.03 to 0.94)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2CF040C-B897-40E6-80E8-91AB8C49AFC8}"/>
              </a:ext>
            </a:extLst>
          </p:cNvPr>
          <p:cNvSpPr>
            <a:spLocks noGrp="1"/>
          </p:cNvSpPr>
          <p:nvPr/>
        </p:nvSpPr>
        <p:spPr>
          <a:xfrm>
            <a:off x="12077700" y="21488400"/>
            <a:ext cx="194691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C774573A-BE9A-4DDC-981E-10B332F1DF00}"/>
              </a:ext>
            </a:extLst>
          </p:cNvPr>
          <p:cNvSpPr>
            <a:spLocks noGrp="1"/>
          </p:cNvSpPr>
          <p:nvPr/>
        </p:nvSpPr>
        <p:spPr>
          <a:xfrm>
            <a:off x="25317450" y="21488400"/>
            <a:ext cx="14288" cy="5334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8001AC6-87B6-4F38-960E-74333E52778B}"/>
              </a:ext>
            </a:extLst>
          </p:cNvPr>
          <p:cNvSpPr>
            <a:spLocks noGrp="1"/>
          </p:cNvSpPr>
          <p:nvPr/>
        </p:nvSpPr>
        <p:spPr>
          <a:xfrm>
            <a:off x="12249150" y="21564600"/>
            <a:ext cx="1291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Per simulation attended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7B46561-F0D3-4550-8B1D-6B420FCEA4A7}"/>
              </a:ext>
            </a:extLst>
          </p:cNvPr>
          <p:cNvSpPr>
            <a:spLocks noGrp="1"/>
          </p:cNvSpPr>
          <p:nvPr/>
        </p:nvSpPr>
        <p:spPr>
          <a:xfrm>
            <a:off x="25469850" y="21564600"/>
            <a:ext cx="5924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1">
                <a:solidFill>
                  <a:srgbClr val="10163A"/>
                </a:solidFill>
                <a:latin typeface="Aptos"/>
                <a:ea typeface="Aptos"/>
                <a:cs typeface="Aptos"/>
              </a:defRPr>
            </a:pPr>
            <a:r>
              <a:rPr sz="2600" b="1">
                <a:solidFill>
                  <a:srgbClr val="10163A"/>
                </a:solidFill>
                <a:latin typeface="Aptos"/>
                <a:ea typeface="Aptos"/>
                <a:cs typeface="Aptos"/>
              </a:rPr>
              <a:t>0.49 (0.13 to 0.81)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9990B43-A8F7-4F39-9B15-16B70D2A3C85}"/>
              </a:ext>
            </a:extLst>
          </p:cNvPr>
          <p:cNvSpPr>
            <a:spLocks noGrp="1"/>
          </p:cNvSpPr>
          <p:nvPr/>
        </p:nvSpPr>
        <p:spPr>
          <a:xfrm>
            <a:off x="12077700" y="22288500"/>
            <a:ext cx="19469100" cy="552450"/>
          </a:xfrm>
          <a:prstGeom prst="rect">
            <a:avLst/>
          </a:prstGeom>
          <a:solidFill>
            <a:srgbClr val="0E13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5144B95-95EF-4D1E-8E72-79B9AC3D1A8E}"/>
              </a:ext>
            </a:extLst>
          </p:cNvPr>
          <p:cNvSpPr>
            <a:spLocks noGrp="1"/>
          </p:cNvSpPr>
          <p:nvPr/>
        </p:nvSpPr>
        <p:spPr>
          <a:xfrm>
            <a:off x="12249150" y="22364700"/>
            <a:ext cx="12896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Pre-to-Post Change  </a:t>
            </a:r>
            <a:r>
              <a:rPr lang="en-US" sz="2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(n=23, paired)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52C3FC3-C3A5-4EC4-AE7F-451694B859B0}"/>
              </a:ext>
            </a:extLst>
          </p:cNvPr>
          <p:cNvSpPr>
            <a:spLocks noGrp="1"/>
          </p:cNvSpPr>
          <p:nvPr/>
        </p:nvSpPr>
        <p:spPr>
          <a:xfrm>
            <a:off x="25469850" y="22364700"/>
            <a:ext cx="5924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Mean change (95% CI)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2DC91B1-4F7B-4846-8CEC-321C9E8A747B}"/>
              </a:ext>
            </a:extLst>
          </p:cNvPr>
          <p:cNvSpPr>
            <a:spLocks noGrp="1"/>
          </p:cNvSpPr>
          <p:nvPr/>
        </p:nvSpPr>
        <p:spPr>
          <a:xfrm>
            <a:off x="12077700" y="22840950"/>
            <a:ext cx="194691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573696A-CB59-4F21-B12F-583E3045CD7E}"/>
              </a:ext>
            </a:extLst>
          </p:cNvPr>
          <p:cNvSpPr>
            <a:spLocks noGrp="1"/>
          </p:cNvSpPr>
          <p:nvPr/>
        </p:nvSpPr>
        <p:spPr>
          <a:xfrm>
            <a:off x="25317450" y="22840950"/>
            <a:ext cx="14288" cy="5334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0ED2B69-8B75-42F9-9737-3C892F26DEF6}"/>
              </a:ext>
            </a:extLst>
          </p:cNvPr>
          <p:cNvSpPr>
            <a:spLocks noGrp="1"/>
          </p:cNvSpPr>
          <p:nvPr/>
        </p:nvSpPr>
        <p:spPr>
          <a:xfrm>
            <a:off x="12249150" y="22917150"/>
            <a:ext cx="1291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Team-dynamics confidence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5E5222CE-3C60-4B86-B2FD-C16CBB443BA2}"/>
              </a:ext>
            </a:extLst>
          </p:cNvPr>
          <p:cNvSpPr>
            <a:spLocks noGrp="1"/>
          </p:cNvSpPr>
          <p:nvPr/>
        </p:nvSpPr>
        <p:spPr>
          <a:xfrm>
            <a:off x="25469850" y="22917150"/>
            <a:ext cx="5924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-0.41 (-1.53 to 0.72)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2E2E4192-46CB-4241-864E-7A656FFE4125}"/>
              </a:ext>
            </a:extLst>
          </p:cNvPr>
          <p:cNvSpPr>
            <a:spLocks noGrp="1"/>
          </p:cNvSpPr>
          <p:nvPr/>
        </p:nvSpPr>
        <p:spPr>
          <a:xfrm>
            <a:off x="12077700" y="23374350"/>
            <a:ext cx="194691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172C85DF-BC64-4C1A-945C-3CDBB93F8604}"/>
              </a:ext>
            </a:extLst>
          </p:cNvPr>
          <p:cNvSpPr>
            <a:spLocks noGrp="1"/>
          </p:cNvSpPr>
          <p:nvPr/>
        </p:nvSpPr>
        <p:spPr>
          <a:xfrm>
            <a:off x="25317450" y="23374350"/>
            <a:ext cx="14288" cy="5334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4E8E60F7-D402-4B1B-89FF-CA4AFC8C0D19}"/>
              </a:ext>
            </a:extLst>
          </p:cNvPr>
          <p:cNvSpPr>
            <a:spLocks noGrp="1"/>
          </p:cNvSpPr>
          <p:nvPr/>
        </p:nvSpPr>
        <p:spPr>
          <a:xfrm>
            <a:off x="12249150" y="23450550"/>
            <a:ext cx="1291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Attending-call tendency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3C7C7BD3-B0B3-4347-804A-26872A13775E}"/>
              </a:ext>
            </a:extLst>
          </p:cNvPr>
          <p:cNvSpPr>
            <a:spLocks noGrp="1"/>
          </p:cNvSpPr>
          <p:nvPr/>
        </p:nvSpPr>
        <p:spPr>
          <a:xfrm>
            <a:off x="25469850" y="23450550"/>
            <a:ext cx="5924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0.05 (-0.56 to 0.65)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9360F86-3169-48E0-83FB-7197A2273E6D}"/>
              </a:ext>
            </a:extLst>
          </p:cNvPr>
          <p:cNvSpPr>
            <a:spLocks noGrp="1"/>
          </p:cNvSpPr>
          <p:nvPr/>
        </p:nvSpPr>
        <p:spPr>
          <a:xfrm>
            <a:off x="12077700" y="23907750"/>
            <a:ext cx="194691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2F11070-8013-4345-B719-BFD6A97A39D9}"/>
              </a:ext>
            </a:extLst>
          </p:cNvPr>
          <p:cNvSpPr>
            <a:spLocks noGrp="1"/>
          </p:cNvSpPr>
          <p:nvPr/>
        </p:nvSpPr>
        <p:spPr>
          <a:xfrm>
            <a:off x="25317450" y="23907750"/>
            <a:ext cx="14288" cy="5334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827C9314-C87A-4A2C-BDF3-6992694B27B9}"/>
              </a:ext>
            </a:extLst>
          </p:cNvPr>
          <p:cNvSpPr>
            <a:spLocks noGrp="1"/>
          </p:cNvSpPr>
          <p:nvPr/>
        </p:nvSpPr>
        <p:spPr>
          <a:xfrm>
            <a:off x="12249150" y="23983950"/>
            <a:ext cx="1291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Rhythm strip recognition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59B9A2B-3105-40C4-B773-B071866D3F0A}"/>
              </a:ext>
            </a:extLst>
          </p:cNvPr>
          <p:cNvSpPr>
            <a:spLocks noGrp="1"/>
          </p:cNvSpPr>
          <p:nvPr/>
        </p:nvSpPr>
        <p:spPr>
          <a:xfrm>
            <a:off x="25469850" y="23983950"/>
            <a:ext cx="5924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1">
                <a:solidFill>
                  <a:srgbClr val="C2185B"/>
                </a:solidFill>
                <a:latin typeface="Aptos"/>
                <a:ea typeface="Aptos"/>
                <a:cs typeface="Aptos"/>
              </a:defRPr>
            </a:pPr>
            <a:r>
              <a:rPr sz="2600" b="1">
                <a:solidFill>
                  <a:srgbClr val="C2185B"/>
                </a:solidFill>
                <a:latin typeface="Aptos"/>
                <a:ea typeface="Aptos"/>
                <a:cs typeface="Aptos"/>
              </a:rPr>
              <a:t>1.63 (1 to 2.27)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A56C29C-89A4-4024-9A25-00A2DA1A16B0}"/>
              </a:ext>
            </a:extLst>
          </p:cNvPr>
          <p:cNvSpPr>
            <a:spLocks noGrp="1"/>
          </p:cNvSpPr>
          <p:nvPr/>
        </p:nvSpPr>
        <p:spPr>
          <a:xfrm>
            <a:off x="32385000" y="5429250"/>
            <a:ext cx="10553700" cy="11554062"/>
          </a:xfrm>
          <a:prstGeom prst="rect">
            <a:avLst/>
          </a:prstGeom>
          <a:solidFill>
            <a:srgbClr val="FFFFFF"/>
          </a:solidFill>
          <a:ln w="1905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E84623B2-8B18-417D-9CD1-421D7D20B6B0}"/>
              </a:ext>
            </a:extLst>
          </p:cNvPr>
          <p:cNvSpPr>
            <a:spLocks noGrp="1"/>
          </p:cNvSpPr>
          <p:nvPr/>
        </p:nvSpPr>
        <p:spPr>
          <a:xfrm>
            <a:off x="32385000" y="5429250"/>
            <a:ext cx="95250" cy="11554062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AD64FC18-2D46-4D00-A727-852B2F2DC91A}"/>
              </a:ext>
            </a:extLst>
          </p:cNvPr>
          <p:cNvSpPr>
            <a:spLocks noGrp="1"/>
          </p:cNvSpPr>
          <p:nvPr/>
        </p:nvSpPr>
        <p:spPr>
          <a:xfrm>
            <a:off x="32708850" y="5753100"/>
            <a:ext cx="133350" cy="495300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6C03D450-68E3-473C-80B4-60D13E2BD36E}"/>
              </a:ext>
            </a:extLst>
          </p:cNvPr>
          <p:cNvSpPr>
            <a:spLocks noGrp="1"/>
          </p:cNvSpPr>
          <p:nvPr/>
        </p:nvSpPr>
        <p:spPr>
          <a:xfrm>
            <a:off x="33013650" y="5715000"/>
            <a:ext cx="9601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rPr>
              <a:t>FINDINGS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131C97EE-38A2-4E74-953D-D6EBECE0DA76}"/>
              </a:ext>
            </a:extLst>
          </p:cNvPr>
          <p:cNvSpPr>
            <a:spLocks noGrp="1"/>
          </p:cNvSpPr>
          <p:nvPr/>
        </p:nvSpPr>
        <p:spPr>
          <a:xfrm>
            <a:off x="33013650" y="6400800"/>
            <a:ext cx="9601200" cy="28575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B5A550FC-8DE2-444E-80BF-3F8B9462CBD3}"/>
              </a:ext>
            </a:extLst>
          </p:cNvPr>
          <p:cNvSpPr>
            <a:spLocks noGrp="1"/>
          </p:cNvSpPr>
          <p:nvPr/>
        </p:nvSpPr>
        <p:spPr>
          <a:xfrm>
            <a:off x="33051750" y="8521700"/>
            <a:ext cx="323850" cy="222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2185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2185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9316C802-E881-41F6-9006-98D8EE80A15D}"/>
              </a:ext>
            </a:extLst>
          </p:cNvPr>
          <p:cNvSpPr>
            <a:spLocks noGrp="1"/>
          </p:cNvSpPr>
          <p:nvPr/>
        </p:nvSpPr>
        <p:spPr>
          <a:xfrm>
            <a:off x="33432750" y="8458200"/>
            <a:ext cx="8934450" cy="276998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/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Codes attended (+0.49/event) and simulations completed (+0.47/event) were associated with higher team-leadership confidence; rapid-response attendance (-0.07/event) was not.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F8BFBE8-88E3-48BA-9A2E-9E5C93B76071}"/>
              </a:ext>
            </a:extLst>
          </p:cNvPr>
          <p:cNvSpPr>
            <a:spLocks noGrp="1"/>
          </p:cNvSpPr>
          <p:nvPr/>
        </p:nvSpPr>
        <p:spPr>
          <a:xfrm>
            <a:off x="33051750" y="11672688"/>
            <a:ext cx="323850" cy="1663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2185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2185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C4082672-1623-4A8B-A488-27BFAB5E3E51}"/>
              </a:ext>
            </a:extLst>
          </p:cNvPr>
          <p:cNvSpPr>
            <a:spLocks noGrp="1"/>
          </p:cNvSpPr>
          <p:nvPr/>
        </p:nvSpPr>
        <p:spPr>
          <a:xfrm>
            <a:off x="33432750" y="11609188"/>
            <a:ext cx="8934450" cy="11079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/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seminar produced a clear gain in rhythm-recognition confidence (+1.63/10).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A36C1721-D02D-4EED-A468-8638B31B5FFC}"/>
              </a:ext>
            </a:extLst>
          </p:cNvPr>
          <p:cNvSpPr>
            <a:spLocks noGrp="1"/>
          </p:cNvSpPr>
          <p:nvPr/>
        </p:nvSpPr>
        <p:spPr>
          <a:xfrm>
            <a:off x="33051750" y="13161684"/>
            <a:ext cx="323850" cy="1663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2185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2185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534FA73B-65CE-4F32-8812-ED1748F8CF7C}"/>
              </a:ext>
            </a:extLst>
          </p:cNvPr>
          <p:cNvSpPr>
            <a:spLocks noGrp="1"/>
          </p:cNvSpPr>
          <p:nvPr/>
        </p:nvSpPr>
        <p:spPr>
          <a:xfrm>
            <a:off x="33432750" y="13098184"/>
            <a:ext cx="8934450" cy="166199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/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Team-dynamics confidence and attending-call tendency did not substantially change after the seminar.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B6781F78-B868-49C3-BF87-511A3FC88DC2}"/>
              </a:ext>
            </a:extLst>
          </p:cNvPr>
          <p:cNvSpPr>
            <a:spLocks noGrp="1"/>
          </p:cNvSpPr>
          <p:nvPr/>
        </p:nvSpPr>
        <p:spPr>
          <a:xfrm>
            <a:off x="33051750" y="15331677"/>
            <a:ext cx="9220200" cy="1340485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A11BA4D-4823-4BA9-871D-DF3B50D8A4B8}"/>
              </a:ext>
            </a:extLst>
          </p:cNvPr>
          <p:cNvSpPr>
            <a:spLocks noGrp="1"/>
          </p:cNvSpPr>
          <p:nvPr/>
        </p:nvSpPr>
        <p:spPr>
          <a:xfrm>
            <a:off x="33318450" y="15458677"/>
            <a:ext cx="8686800" cy="98488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  <a:prstDash val="solid"/>
          </a:ln>
        </p:spPr>
        <p:txBody>
          <a:bodyPr lIns="0" tIns="0" rIns="0" bIns="0" anchor="t">
            <a:spAutoFit/>
          </a:bodyPr>
          <a:lstStyle/>
          <a:p>
            <a:pPr algn="l">
              <a:defRPr sz="3200" b="1">
                <a:solidFill>
                  <a:srgbClr val="C2185B"/>
                </a:solidFill>
                <a:latin typeface="Aptos"/>
                <a:ea typeface="Aptos"/>
                <a:cs typeface="Aptos"/>
              </a:defRPr>
            </a:pPr>
            <a:r>
              <a:rPr sz="3200" dirty="0">
                <a:solidFill>
                  <a:srgbClr val="10163A"/>
                </a:solidFill>
                <a:latin typeface="Aptos"/>
                <a:ea typeface="Aptos"/>
                <a:cs typeface="Aptos"/>
              </a:rPr>
              <a:t>Helpfulness ratings: 9/10 median across modules, case simulation, and discussion.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D40D1A91-EDAF-4058-9226-2D0CDB3A1932}"/>
              </a:ext>
            </a:extLst>
          </p:cNvPr>
          <p:cNvSpPr>
            <a:spLocks noGrp="1"/>
          </p:cNvSpPr>
          <p:nvPr/>
        </p:nvSpPr>
        <p:spPr>
          <a:xfrm>
            <a:off x="32385000" y="17345262"/>
            <a:ext cx="10553700" cy="12770944"/>
          </a:xfrm>
          <a:prstGeom prst="rect">
            <a:avLst/>
          </a:prstGeom>
          <a:solidFill>
            <a:srgbClr val="FFFFFF"/>
          </a:solidFill>
          <a:ln w="1905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EC75EB7-DF1A-4917-AF81-CA5F0C1B31F0}"/>
              </a:ext>
            </a:extLst>
          </p:cNvPr>
          <p:cNvSpPr>
            <a:spLocks noGrp="1"/>
          </p:cNvSpPr>
          <p:nvPr/>
        </p:nvSpPr>
        <p:spPr>
          <a:xfrm>
            <a:off x="32385000" y="17345262"/>
            <a:ext cx="95250" cy="11353800"/>
          </a:xfrm>
          <a:prstGeom prst="rect">
            <a:avLst/>
          </a:prstGeom>
          <a:solidFill>
            <a:srgbClr val="101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04C6614B-FBF0-4F53-8CB7-876DB481E293}"/>
              </a:ext>
            </a:extLst>
          </p:cNvPr>
          <p:cNvSpPr>
            <a:spLocks noGrp="1"/>
          </p:cNvSpPr>
          <p:nvPr/>
        </p:nvSpPr>
        <p:spPr>
          <a:xfrm>
            <a:off x="33051750" y="21963122"/>
            <a:ext cx="9315450" cy="260071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Future iterations will emphasize structured practice and feedback for uncertainty in rapid responses.</a:t>
            </a:r>
          </a:p>
          <a:p>
            <a:pPr algn="l">
              <a:spcBef>
                <a:spcPts val="600"/>
              </a:spcBef>
            </a:pPr>
            <a:r>
              <a:rPr lang="en-US" sz="2800" b="0" i="1" dirty="0">
                <a:solidFill>
                  <a:srgbClr val="5B6F82"/>
                </a:solidFill>
                <a:latin typeface="Aptos"/>
                <a:ea typeface="Aptos"/>
                <a:cs typeface="Aptos"/>
              </a:rPr>
              <a:t>Findings reflect a single-center sample; non-completers (26%) may differ from completers.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F28616C7-E277-4E97-AEDA-58A29AFB92DF}"/>
              </a:ext>
            </a:extLst>
          </p:cNvPr>
          <p:cNvSpPr>
            <a:spLocks noGrp="1"/>
          </p:cNvSpPr>
          <p:nvPr/>
        </p:nvSpPr>
        <p:spPr>
          <a:xfrm>
            <a:off x="0" y="31318200"/>
            <a:ext cx="43891200" cy="1600200"/>
          </a:xfrm>
          <a:prstGeom prst="rect">
            <a:avLst/>
          </a:prstGeom>
          <a:solidFill>
            <a:srgbClr val="101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90F243A9-FAB8-44F8-9BBB-FDF2E78229AE}"/>
              </a:ext>
            </a:extLst>
          </p:cNvPr>
          <p:cNvSpPr>
            <a:spLocks noGrp="1"/>
          </p:cNvSpPr>
          <p:nvPr/>
        </p:nvSpPr>
        <p:spPr>
          <a:xfrm>
            <a:off x="1047750" y="31877000"/>
            <a:ext cx="2714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28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Code Blue &amp; Rapid Response Seminar  |  American Thoracic Society 2026, Orlando FL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C381E03A-A299-46A0-95CA-D3C6A87006B3}"/>
              </a:ext>
            </a:extLst>
          </p:cNvPr>
          <p:cNvSpPr>
            <a:spLocks noGrp="1"/>
          </p:cNvSpPr>
          <p:nvPr/>
        </p:nvSpPr>
        <p:spPr>
          <a:xfrm>
            <a:off x="33233784" y="31927800"/>
            <a:ext cx="904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/>
            <a:r>
              <a:rPr lang="en-US" sz="28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Contact: Josiah Situmeang, MD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8FD50C46-5A0A-BF4D-8808-CA609673E501}"/>
              </a:ext>
            </a:extLst>
          </p:cNvPr>
          <p:cNvSpPr/>
          <p:nvPr/>
        </p:nvSpPr>
        <p:spPr>
          <a:xfrm>
            <a:off x="12827000" y="17500600"/>
            <a:ext cx="17970500" cy="12700"/>
          </a:xfrm>
          <a:prstGeom prst="rect">
            <a:avLst/>
          </a:prstGeom>
          <a:solidFill>
            <a:srgbClr val="D1D5D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C809C292-E199-1B40-AF48-F23723C3DB58}"/>
              </a:ext>
            </a:extLst>
          </p:cNvPr>
          <p:cNvSpPr/>
          <p:nvPr/>
        </p:nvSpPr>
        <p:spPr>
          <a:xfrm>
            <a:off x="12827000" y="19773900"/>
            <a:ext cx="17970500" cy="12700"/>
          </a:xfrm>
          <a:prstGeom prst="rect">
            <a:avLst/>
          </a:prstGeom>
          <a:solidFill>
            <a:srgbClr val="D1D5D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47037631-CD48-F34B-BE45-5681F042AF7E}"/>
              </a:ext>
            </a:extLst>
          </p:cNvPr>
          <p:cNvSpPr/>
          <p:nvPr/>
        </p:nvSpPr>
        <p:spPr>
          <a:xfrm>
            <a:off x="12827000" y="22186900"/>
            <a:ext cx="17970500" cy="12700"/>
          </a:xfrm>
          <a:prstGeom prst="rect">
            <a:avLst/>
          </a:prstGeom>
          <a:solidFill>
            <a:srgbClr val="D1D5D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0F3DCB99-32B4-0642-BDF0-B96432263422}"/>
              </a:ext>
            </a:extLst>
          </p:cNvPr>
          <p:cNvSpPr txBox="1"/>
          <p:nvPr/>
        </p:nvSpPr>
        <p:spPr>
          <a:xfrm>
            <a:off x="33058100" y="18719800"/>
            <a:ext cx="9321800" cy="286232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dirty="0">
                <a:solidFill>
                  <a:srgbClr val="111827"/>
                </a:solidFill>
                <a:latin typeface="Aptos"/>
              </a:rPr>
              <a:t>This pattern suggests rapid-response exposure alone may not build team-leadership confidence; structured practice through codes and simulations appears more associated with it.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9B114E5E-D15E-F647-8FC4-4BBAFA3F4268}"/>
              </a:ext>
            </a:extLst>
          </p:cNvPr>
          <p:cNvSpPr txBox="1"/>
          <p:nvPr/>
        </p:nvSpPr>
        <p:spPr>
          <a:xfrm>
            <a:off x="12065000" y="26606500"/>
            <a:ext cx="190500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0163A"/>
                </a:solidFill>
                <a:latin typeface="Aptos"/>
              </a:rPr>
              <a:t>Pre→post change after seminar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B38956A-02AD-2C42-AAA3-ABD4D4A9F7FF}"/>
              </a:ext>
            </a:extLst>
          </p:cNvPr>
          <p:cNvSpPr txBox="1"/>
          <p:nvPr/>
        </p:nvSpPr>
        <p:spPr>
          <a:xfrm>
            <a:off x="12065000" y="27051000"/>
            <a:ext cx="7620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>
                <a:solidFill>
                  <a:srgbClr val="10163A"/>
                </a:solidFill>
                <a:latin typeface="Aptos"/>
              </a:rPr>
              <a:t>Rhythm-strip recognition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C96743A8-2051-8141-8A89-030DB2BDD63B}"/>
              </a:ext>
            </a:extLst>
          </p:cNvPr>
          <p:cNvSpPr/>
          <p:nvPr/>
        </p:nvSpPr>
        <p:spPr>
          <a:xfrm>
            <a:off x="26754666" y="27228800"/>
            <a:ext cx="2939062" cy="25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21747BFD-2A15-4E4F-A7E0-FCE61D5875CC}"/>
              </a:ext>
            </a:extLst>
          </p:cNvPr>
          <p:cNvSpPr/>
          <p:nvPr/>
        </p:nvSpPr>
        <p:spPr>
          <a:xfrm>
            <a:off x="26754666" y="271653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C6CBA91A-4450-4249-B048-4331616B90B9}"/>
              </a:ext>
            </a:extLst>
          </p:cNvPr>
          <p:cNvSpPr/>
          <p:nvPr/>
        </p:nvSpPr>
        <p:spPr>
          <a:xfrm>
            <a:off x="29693728" y="271653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2481ACF3-D49F-6648-B8AE-2EC70E7766F9}"/>
              </a:ext>
            </a:extLst>
          </p:cNvPr>
          <p:cNvSpPr/>
          <p:nvPr/>
        </p:nvSpPr>
        <p:spPr>
          <a:xfrm>
            <a:off x="28123726" y="27152600"/>
            <a:ext cx="177800" cy="177800"/>
          </a:xfrm>
          <a:prstGeom prst="ellipse">
            <a:avLst/>
          </a:prstGeom>
          <a:solidFill>
            <a:srgbClr val="C2185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E75B2350-F733-FA4A-8D76-7F84CCA87C74}"/>
              </a:ext>
            </a:extLst>
          </p:cNvPr>
          <p:cNvSpPr txBox="1"/>
          <p:nvPr/>
        </p:nvSpPr>
        <p:spPr>
          <a:xfrm>
            <a:off x="30416500" y="27051000"/>
            <a:ext cx="13335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0163A"/>
                </a:solidFill>
                <a:latin typeface="Aptos"/>
              </a:rPr>
              <a:t>+1.63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8DF17C41-8D1F-8343-A312-6B16A8EC5456}"/>
              </a:ext>
            </a:extLst>
          </p:cNvPr>
          <p:cNvSpPr txBox="1"/>
          <p:nvPr/>
        </p:nvSpPr>
        <p:spPr>
          <a:xfrm>
            <a:off x="12065000" y="27495500"/>
            <a:ext cx="7620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>
                <a:solidFill>
                  <a:srgbClr val="10163A"/>
                </a:solidFill>
                <a:latin typeface="Aptos"/>
              </a:rPr>
              <a:t>Team-dynamics confidence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13FE33AD-8EB6-104F-8741-8CB7AD235C2F}"/>
              </a:ext>
            </a:extLst>
          </p:cNvPr>
          <p:cNvSpPr/>
          <p:nvPr/>
        </p:nvSpPr>
        <p:spPr>
          <a:xfrm>
            <a:off x="20899684" y="27673300"/>
            <a:ext cx="5206999" cy="25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4649FC37-B70C-D546-8429-EB8EE04D083C}"/>
              </a:ext>
            </a:extLst>
          </p:cNvPr>
          <p:cNvSpPr/>
          <p:nvPr/>
        </p:nvSpPr>
        <p:spPr>
          <a:xfrm>
            <a:off x="20899684" y="276098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5D26192B-27AD-8A4A-B816-42F901FFD3CA}"/>
              </a:ext>
            </a:extLst>
          </p:cNvPr>
          <p:cNvSpPr/>
          <p:nvPr/>
        </p:nvSpPr>
        <p:spPr>
          <a:xfrm>
            <a:off x="26106684" y="276098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7" name="Oval 266">
            <a:extLst>
              <a:ext uri="{FF2B5EF4-FFF2-40B4-BE49-F238E27FC236}">
                <a16:creationId xmlns:a16="http://schemas.microsoft.com/office/drawing/2014/main" id="{2C854BD2-8A72-4F46-9AC7-B981CA090285}"/>
              </a:ext>
            </a:extLst>
          </p:cNvPr>
          <p:cNvSpPr/>
          <p:nvPr/>
        </p:nvSpPr>
        <p:spPr>
          <a:xfrm>
            <a:off x="23402713" y="27597100"/>
            <a:ext cx="177800" cy="177800"/>
          </a:xfrm>
          <a:prstGeom prst="ellipse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D75537B0-F33D-B347-A50B-6365428310F1}"/>
              </a:ext>
            </a:extLst>
          </p:cNvPr>
          <p:cNvSpPr txBox="1"/>
          <p:nvPr/>
        </p:nvSpPr>
        <p:spPr>
          <a:xfrm>
            <a:off x="30416500" y="27495500"/>
            <a:ext cx="13335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0163A"/>
                </a:solidFill>
                <a:latin typeface="Aptos"/>
              </a:rPr>
              <a:t>-0.41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E9107566-7049-A148-8152-639EACFC25E6}"/>
              </a:ext>
            </a:extLst>
          </p:cNvPr>
          <p:cNvSpPr txBox="1"/>
          <p:nvPr/>
        </p:nvSpPr>
        <p:spPr>
          <a:xfrm>
            <a:off x="12065000" y="27940000"/>
            <a:ext cx="7620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 dirty="0">
                <a:solidFill>
                  <a:srgbClr val="10163A"/>
                </a:solidFill>
                <a:latin typeface="Aptos"/>
              </a:rPr>
              <a:t>Attending-call tendency</a:t>
            </a: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75B423B5-AC8F-A244-8066-3A3CB5D2C43B}"/>
              </a:ext>
            </a:extLst>
          </p:cNvPr>
          <p:cNvSpPr/>
          <p:nvPr/>
        </p:nvSpPr>
        <p:spPr>
          <a:xfrm>
            <a:off x="23144480" y="28117800"/>
            <a:ext cx="2800208" cy="25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6E1A000C-D154-2A4D-9472-68E886A18A1F}"/>
              </a:ext>
            </a:extLst>
          </p:cNvPr>
          <p:cNvSpPr/>
          <p:nvPr/>
        </p:nvSpPr>
        <p:spPr>
          <a:xfrm>
            <a:off x="23144480" y="280543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49D25D51-0555-3E45-92F7-6C0E0434DD1E}"/>
              </a:ext>
            </a:extLst>
          </p:cNvPr>
          <p:cNvSpPr/>
          <p:nvPr/>
        </p:nvSpPr>
        <p:spPr>
          <a:xfrm>
            <a:off x="25944688" y="280543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381EE7F2-7CDB-7848-A276-2DE57E54CE22}"/>
              </a:ext>
            </a:extLst>
          </p:cNvPr>
          <p:cNvSpPr/>
          <p:nvPr/>
        </p:nvSpPr>
        <p:spPr>
          <a:xfrm>
            <a:off x="24467255" y="28041600"/>
            <a:ext cx="177800" cy="177800"/>
          </a:xfrm>
          <a:prstGeom prst="ellipse">
            <a:avLst/>
          </a:prstGeom>
          <a:solidFill>
            <a:srgbClr val="C2185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A7FB8BAF-551B-3E43-A54C-F6E6FC46342C}"/>
              </a:ext>
            </a:extLst>
          </p:cNvPr>
          <p:cNvSpPr txBox="1"/>
          <p:nvPr/>
        </p:nvSpPr>
        <p:spPr>
          <a:xfrm>
            <a:off x="30416500" y="27940000"/>
            <a:ext cx="13335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0163A"/>
                </a:solidFill>
                <a:latin typeface="Aptos"/>
              </a:rPr>
              <a:t>+0.05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E4E9C4F5-F942-3C40-81BE-19FCA2C9EF2D}"/>
              </a:ext>
            </a:extLst>
          </p:cNvPr>
          <p:cNvSpPr txBox="1"/>
          <p:nvPr/>
        </p:nvSpPr>
        <p:spPr>
          <a:xfrm>
            <a:off x="12065000" y="28384500"/>
            <a:ext cx="190500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0163A"/>
                </a:solidFill>
                <a:latin typeface="Aptos"/>
              </a:rPr>
              <a:t>Per prior event attended (leadership confidence)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68665416-4D50-8C42-9C59-674D95BB869A}"/>
              </a:ext>
            </a:extLst>
          </p:cNvPr>
          <p:cNvSpPr txBox="1"/>
          <p:nvPr/>
        </p:nvSpPr>
        <p:spPr>
          <a:xfrm>
            <a:off x="12065000" y="28829000"/>
            <a:ext cx="7620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>
                <a:solidFill>
                  <a:srgbClr val="10163A"/>
                </a:solidFill>
                <a:latin typeface="Aptos"/>
              </a:rPr>
              <a:t>Per code blue attended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F229F6B3-7410-CE4C-BC38-A2FCB2232C78}"/>
              </a:ext>
            </a:extLst>
          </p:cNvPr>
          <p:cNvSpPr/>
          <p:nvPr/>
        </p:nvSpPr>
        <p:spPr>
          <a:xfrm>
            <a:off x="24741293" y="29006800"/>
            <a:ext cx="1573671" cy="25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B4494427-F3DE-BD4F-B652-0AE42A97D70B}"/>
              </a:ext>
            </a:extLst>
          </p:cNvPr>
          <p:cNvSpPr/>
          <p:nvPr/>
        </p:nvSpPr>
        <p:spPr>
          <a:xfrm>
            <a:off x="24741293" y="289433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CEA4EE37-B973-774C-9891-8DF9385A20FE}"/>
              </a:ext>
            </a:extLst>
          </p:cNvPr>
          <p:cNvSpPr/>
          <p:nvPr/>
        </p:nvSpPr>
        <p:spPr>
          <a:xfrm>
            <a:off x="26314964" y="289433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654CC8A1-15E9-594D-B95A-E965EB4231CF}"/>
              </a:ext>
            </a:extLst>
          </p:cNvPr>
          <p:cNvSpPr/>
          <p:nvPr/>
        </p:nvSpPr>
        <p:spPr>
          <a:xfrm>
            <a:off x="25485513" y="28930600"/>
            <a:ext cx="177800" cy="177800"/>
          </a:xfrm>
          <a:prstGeom prst="ellipse">
            <a:avLst/>
          </a:prstGeom>
          <a:solidFill>
            <a:srgbClr val="C2185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1EB81C13-6F56-1444-89A5-CE2EFC4C5BDE}"/>
              </a:ext>
            </a:extLst>
          </p:cNvPr>
          <p:cNvSpPr txBox="1"/>
          <p:nvPr/>
        </p:nvSpPr>
        <p:spPr>
          <a:xfrm>
            <a:off x="30416500" y="28829000"/>
            <a:ext cx="13335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0163A"/>
                </a:solidFill>
                <a:latin typeface="Aptos"/>
              </a:rPr>
              <a:t>+0.49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7D88B669-6E44-5743-8E13-40A3DA2CD068}"/>
              </a:ext>
            </a:extLst>
          </p:cNvPr>
          <p:cNvSpPr txBox="1"/>
          <p:nvPr/>
        </p:nvSpPr>
        <p:spPr>
          <a:xfrm>
            <a:off x="12065000" y="29273500"/>
            <a:ext cx="7620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>
                <a:solidFill>
                  <a:srgbClr val="10163A"/>
                </a:solidFill>
                <a:latin typeface="Aptos"/>
              </a:rPr>
              <a:t>Per simulation attended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416DBC3E-D24F-D44C-8DEF-40C3A8E03252}"/>
              </a:ext>
            </a:extLst>
          </p:cNvPr>
          <p:cNvSpPr/>
          <p:nvPr/>
        </p:nvSpPr>
        <p:spPr>
          <a:xfrm>
            <a:off x="24509871" y="29451300"/>
            <a:ext cx="2105942" cy="25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84099DC7-A52D-8E4F-9697-E187AD640BCC}"/>
              </a:ext>
            </a:extLst>
          </p:cNvPr>
          <p:cNvSpPr/>
          <p:nvPr/>
        </p:nvSpPr>
        <p:spPr>
          <a:xfrm>
            <a:off x="24509871" y="293878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198CAAB3-75A2-1B48-BF59-8D0BD7410D81}"/>
              </a:ext>
            </a:extLst>
          </p:cNvPr>
          <p:cNvSpPr/>
          <p:nvPr/>
        </p:nvSpPr>
        <p:spPr>
          <a:xfrm>
            <a:off x="26615813" y="293878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069C130A-0FC5-6E40-9766-DC1025EAEF6B}"/>
              </a:ext>
            </a:extLst>
          </p:cNvPr>
          <p:cNvSpPr/>
          <p:nvPr/>
        </p:nvSpPr>
        <p:spPr>
          <a:xfrm>
            <a:off x="25439228" y="29375100"/>
            <a:ext cx="177800" cy="177800"/>
          </a:xfrm>
          <a:prstGeom prst="ellipse">
            <a:avLst/>
          </a:prstGeom>
          <a:solidFill>
            <a:srgbClr val="C2185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CB8683E5-7FAA-C241-B28B-AF0C3BBD47C1}"/>
              </a:ext>
            </a:extLst>
          </p:cNvPr>
          <p:cNvSpPr txBox="1"/>
          <p:nvPr/>
        </p:nvSpPr>
        <p:spPr>
          <a:xfrm>
            <a:off x="30416500" y="29273500"/>
            <a:ext cx="13335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0163A"/>
                </a:solidFill>
                <a:latin typeface="Aptos"/>
              </a:rPr>
              <a:t>+0.47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9F44FBCC-86BB-C040-9E12-0C6C676A4E02}"/>
              </a:ext>
            </a:extLst>
          </p:cNvPr>
          <p:cNvSpPr txBox="1"/>
          <p:nvPr/>
        </p:nvSpPr>
        <p:spPr>
          <a:xfrm>
            <a:off x="12065000" y="29718000"/>
            <a:ext cx="7620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>
                <a:solidFill>
                  <a:srgbClr val="10163A"/>
                </a:solidFill>
                <a:latin typeface="Aptos"/>
              </a:rPr>
              <a:t>Per rapid response attended</a:t>
            </a:r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1BB3EAAE-2D2F-5746-A71A-6E220504FB59}"/>
              </a:ext>
            </a:extLst>
          </p:cNvPr>
          <p:cNvSpPr/>
          <p:nvPr/>
        </p:nvSpPr>
        <p:spPr>
          <a:xfrm>
            <a:off x="24047026" y="29895800"/>
            <a:ext cx="462844" cy="25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25D1071A-B791-BC4B-AEE3-14693008F40B}"/>
              </a:ext>
            </a:extLst>
          </p:cNvPr>
          <p:cNvSpPr/>
          <p:nvPr/>
        </p:nvSpPr>
        <p:spPr>
          <a:xfrm>
            <a:off x="24047026" y="298323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E7142AB3-928D-2045-97B3-809402C17426}"/>
              </a:ext>
            </a:extLst>
          </p:cNvPr>
          <p:cNvSpPr/>
          <p:nvPr/>
        </p:nvSpPr>
        <p:spPr>
          <a:xfrm>
            <a:off x="24509871" y="298323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DC8AEFDE-201B-DC45-BF0D-12ED3EB69AC7}"/>
              </a:ext>
            </a:extLst>
          </p:cNvPr>
          <p:cNvSpPr/>
          <p:nvPr/>
        </p:nvSpPr>
        <p:spPr>
          <a:xfrm>
            <a:off x="24189548" y="29819600"/>
            <a:ext cx="177800" cy="177800"/>
          </a:xfrm>
          <a:prstGeom prst="ellipse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5F4477CF-1E28-3A49-967B-A7BE089E8BE9}"/>
              </a:ext>
            </a:extLst>
          </p:cNvPr>
          <p:cNvSpPr txBox="1"/>
          <p:nvPr/>
        </p:nvSpPr>
        <p:spPr>
          <a:xfrm>
            <a:off x="30416500" y="29718000"/>
            <a:ext cx="13335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0163A"/>
                </a:solidFill>
                <a:latin typeface="Aptos"/>
              </a:rPr>
              <a:t>-0.07</a:t>
            </a: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DC63282F-50F8-E448-9283-08CD97B90D1B}"/>
              </a:ext>
            </a:extLst>
          </p:cNvPr>
          <p:cNvSpPr/>
          <p:nvPr/>
        </p:nvSpPr>
        <p:spPr>
          <a:xfrm>
            <a:off x="24427744" y="27051000"/>
            <a:ext cx="25400" cy="3111500"/>
          </a:xfrm>
          <a:prstGeom prst="rect">
            <a:avLst/>
          </a:prstGeom>
          <a:solidFill>
            <a:srgbClr val="10163A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E709D457-77E2-A34D-8069-A8F5FB1E3F2C}"/>
              </a:ext>
            </a:extLst>
          </p:cNvPr>
          <p:cNvSpPr/>
          <p:nvPr/>
        </p:nvSpPr>
        <p:spPr>
          <a:xfrm>
            <a:off x="19812000" y="30162500"/>
            <a:ext cx="10414000" cy="127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FE323BB5-4ED5-B742-A84D-45EFAD476F5D}"/>
              </a:ext>
            </a:extLst>
          </p:cNvPr>
          <p:cNvSpPr/>
          <p:nvPr/>
        </p:nvSpPr>
        <p:spPr>
          <a:xfrm>
            <a:off x="22126222" y="30162500"/>
            <a:ext cx="12700" cy="762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411FDAF2-B2C2-4D4D-A5DF-BC23FC86D0BF}"/>
              </a:ext>
            </a:extLst>
          </p:cNvPr>
          <p:cNvSpPr txBox="1"/>
          <p:nvPr/>
        </p:nvSpPr>
        <p:spPr>
          <a:xfrm>
            <a:off x="21808722" y="30264100"/>
            <a:ext cx="635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000">
                <a:solidFill>
                  <a:srgbClr val="5B6F82"/>
                </a:solidFill>
                <a:latin typeface="Aptos"/>
              </a:rPr>
              <a:t>-1</a:t>
            </a: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05C52D8B-7F0F-9E42-A1C9-9728D67260F6}"/>
              </a:ext>
            </a:extLst>
          </p:cNvPr>
          <p:cNvSpPr/>
          <p:nvPr/>
        </p:nvSpPr>
        <p:spPr>
          <a:xfrm>
            <a:off x="24440444" y="30162500"/>
            <a:ext cx="12700" cy="762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BA55EF30-15E6-5548-A786-1F23149D38D8}"/>
              </a:ext>
            </a:extLst>
          </p:cNvPr>
          <p:cNvSpPr txBox="1"/>
          <p:nvPr/>
        </p:nvSpPr>
        <p:spPr>
          <a:xfrm>
            <a:off x="24122944" y="30264100"/>
            <a:ext cx="635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000">
                <a:solidFill>
                  <a:srgbClr val="5B6F82"/>
                </a:solidFill>
                <a:latin typeface="Aptos"/>
              </a:rPr>
              <a:t>0</a:t>
            </a: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F7CB9A35-82B5-884E-8BC4-6DAD5CDBDAFE}"/>
              </a:ext>
            </a:extLst>
          </p:cNvPr>
          <p:cNvSpPr/>
          <p:nvPr/>
        </p:nvSpPr>
        <p:spPr>
          <a:xfrm>
            <a:off x="26754666" y="30162500"/>
            <a:ext cx="12700" cy="762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AEC4BE5B-BFF5-3B4B-ABB4-F2038A1DBD8C}"/>
              </a:ext>
            </a:extLst>
          </p:cNvPr>
          <p:cNvSpPr txBox="1"/>
          <p:nvPr/>
        </p:nvSpPr>
        <p:spPr>
          <a:xfrm>
            <a:off x="26437166" y="30264100"/>
            <a:ext cx="635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000">
                <a:solidFill>
                  <a:srgbClr val="5B6F82"/>
                </a:solidFill>
                <a:latin typeface="Aptos"/>
              </a:rPr>
              <a:t>+1</a:t>
            </a: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87311A67-3C50-CD4B-844A-18EB9FA24BE5}"/>
              </a:ext>
            </a:extLst>
          </p:cNvPr>
          <p:cNvSpPr/>
          <p:nvPr/>
        </p:nvSpPr>
        <p:spPr>
          <a:xfrm>
            <a:off x="29068888" y="30162500"/>
            <a:ext cx="12700" cy="762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4938B575-579A-8147-991C-B2D40064B8B5}"/>
              </a:ext>
            </a:extLst>
          </p:cNvPr>
          <p:cNvSpPr txBox="1"/>
          <p:nvPr/>
        </p:nvSpPr>
        <p:spPr>
          <a:xfrm>
            <a:off x="28751388" y="30264100"/>
            <a:ext cx="635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000">
                <a:solidFill>
                  <a:srgbClr val="5B6F82"/>
                </a:solidFill>
                <a:latin typeface="Aptos"/>
              </a:rPr>
              <a:t>+2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A851291F-E0AB-9D4A-BCCD-704C304D3624}"/>
              </a:ext>
            </a:extLst>
          </p:cNvPr>
          <p:cNvSpPr txBox="1"/>
          <p:nvPr/>
        </p:nvSpPr>
        <p:spPr>
          <a:xfrm>
            <a:off x="19875500" y="30543500"/>
            <a:ext cx="3556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5B6F82"/>
                </a:solidFill>
                <a:latin typeface="Aptos"/>
              </a:rPr>
              <a:t>← lower confidence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AEEE20F9-34F8-B248-BB2B-E34D998A93F8}"/>
              </a:ext>
            </a:extLst>
          </p:cNvPr>
          <p:cNvSpPr txBox="1"/>
          <p:nvPr/>
        </p:nvSpPr>
        <p:spPr>
          <a:xfrm>
            <a:off x="26670000" y="30543500"/>
            <a:ext cx="3556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5B6F82"/>
                </a:solidFill>
                <a:latin typeface="Aptos"/>
              </a:rPr>
              <a:t>higher confidence →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71591E-CCA0-6A49-9472-A65BB5447785}"/>
              </a:ext>
            </a:extLst>
          </p:cNvPr>
          <p:cNvSpPr/>
          <p:nvPr/>
        </p:nvSpPr>
        <p:spPr>
          <a:xfrm>
            <a:off x="32715200" y="17662762"/>
            <a:ext cx="139700" cy="495300"/>
          </a:xfrm>
          <a:prstGeom prst="rect">
            <a:avLst/>
          </a:prstGeom>
          <a:solidFill>
            <a:srgbClr val="C2185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DF8532-CCCA-C64B-B1E4-C7E56B54D131}"/>
              </a:ext>
            </a:extLst>
          </p:cNvPr>
          <p:cNvSpPr txBox="1"/>
          <p:nvPr/>
        </p:nvSpPr>
        <p:spPr>
          <a:xfrm>
            <a:off x="33020000" y="17624662"/>
            <a:ext cx="9601200" cy="6731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3300" b="1">
                <a:solidFill>
                  <a:srgbClr val="10163A"/>
                </a:solidFill>
                <a:latin typeface="Aptos Display"/>
              </a:rPr>
              <a:t>CONCLUSION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CCD9ED-0DF0-FA42-AE1F-A4323660F325}"/>
              </a:ext>
            </a:extLst>
          </p:cNvPr>
          <p:cNvSpPr/>
          <p:nvPr/>
        </p:nvSpPr>
        <p:spPr>
          <a:xfrm>
            <a:off x="33020000" y="24942800"/>
            <a:ext cx="9601200" cy="25400"/>
          </a:xfrm>
          <a:prstGeom prst="rect">
            <a:avLst/>
          </a:prstGeom>
          <a:solidFill>
            <a:srgbClr val="C2185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53036C-2EEC-F844-AB1C-57136AA5F446}"/>
              </a:ext>
            </a:extLst>
          </p:cNvPr>
          <p:cNvSpPr/>
          <p:nvPr/>
        </p:nvSpPr>
        <p:spPr>
          <a:xfrm>
            <a:off x="12255500" y="14427200"/>
            <a:ext cx="139700" cy="495300"/>
          </a:xfrm>
          <a:prstGeom prst="rect">
            <a:avLst/>
          </a:prstGeom>
          <a:solidFill>
            <a:srgbClr val="C2185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E27F50-CAE7-4C4D-9A2A-08B5AA829AE9}"/>
              </a:ext>
            </a:extLst>
          </p:cNvPr>
          <p:cNvSpPr/>
          <p:nvPr/>
        </p:nvSpPr>
        <p:spPr>
          <a:xfrm>
            <a:off x="12560300" y="15074900"/>
            <a:ext cx="18821400" cy="25400"/>
          </a:xfrm>
          <a:prstGeom prst="rect">
            <a:avLst/>
          </a:prstGeom>
          <a:solidFill>
            <a:srgbClr val="C2185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B2EA825-D7ED-9240-A970-ED82FA29E66F}"/>
              </a:ext>
            </a:extLst>
          </p:cNvPr>
          <p:cNvSpPr/>
          <p:nvPr/>
        </p:nvSpPr>
        <p:spPr>
          <a:xfrm>
            <a:off x="33058100" y="23796862"/>
            <a:ext cx="9321800" cy="12700"/>
          </a:xfrm>
          <a:prstGeom prst="rect">
            <a:avLst/>
          </a:prstGeom>
          <a:solidFill>
            <a:srgbClr val="D1D5D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03F369E-D541-DC4D-8ACF-2C04A25180B1}"/>
              </a:ext>
            </a:extLst>
          </p:cNvPr>
          <p:cNvSpPr txBox="1"/>
          <p:nvPr/>
        </p:nvSpPr>
        <p:spPr>
          <a:xfrm>
            <a:off x="33058100" y="25133300"/>
            <a:ext cx="9321800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400" b="1">
                <a:solidFill>
                  <a:srgbClr val="10163A"/>
                </a:solidFill>
                <a:latin typeface="Aptos Display"/>
              </a:rPr>
              <a:t>Course materials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20FC911-8102-4373-93AA-D71FE58FA3B9}"/>
              </a:ext>
            </a:extLst>
          </p:cNvPr>
          <p:cNvSpPr>
            <a:spLocks noGrp="1"/>
          </p:cNvSpPr>
          <p:nvPr/>
        </p:nvSpPr>
        <p:spPr>
          <a:xfrm>
            <a:off x="33058100" y="6807200"/>
            <a:ext cx="9321800" cy="1270000"/>
          </a:xfrm>
          <a:prstGeom prst="rect">
            <a:avLst/>
          </a:prstGeom>
          <a:solidFill>
            <a:srgbClr val="EEF3F3"/>
          </a:solidFill>
          <a:ln w="14288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7C40232-C63A-4A28-82E4-91DE99F0E0F5}"/>
              </a:ext>
            </a:extLst>
          </p:cNvPr>
          <p:cNvSpPr>
            <a:spLocks noGrp="1"/>
          </p:cNvSpPr>
          <p:nvPr/>
        </p:nvSpPr>
        <p:spPr>
          <a:xfrm>
            <a:off x="33261300" y="6934200"/>
            <a:ext cx="431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8C8C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008C8C"/>
                </a:solidFill>
                <a:latin typeface="Aptos Display"/>
                <a:ea typeface="Aptos Display"/>
                <a:cs typeface="Aptos Display"/>
              </a:rPr>
              <a:t>31 pre-surveys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49BA4C9-F6DE-41C1-9294-CB58FEFE6166}"/>
              </a:ext>
            </a:extLst>
          </p:cNvPr>
          <p:cNvSpPr>
            <a:spLocks noGrp="1"/>
          </p:cNvSpPr>
          <p:nvPr/>
        </p:nvSpPr>
        <p:spPr>
          <a:xfrm>
            <a:off x="37782500" y="6934200"/>
            <a:ext cx="431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C2185B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 dirty="0">
                <a:solidFill>
                  <a:srgbClr val="C2185B"/>
                </a:solidFill>
                <a:latin typeface="Aptos Display"/>
                <a:ea typeface="Aptos Display"/>
                <a:cs typeface="Aptos Display"/>
              </a:rPr>
              <a:t>23 paired completions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A5C7F03-BFCA-4C08-AD69-83C674137F91}"/>
              </a:ext>
            </a:extLst>
          </p:cNvPr>
          <p:cNvSpPr>
            <a:spLocks noGrp="1"/>
          </p:cNvSpPr>
          <p:nvPr/>
        </p:nvSpPr>
        <p:spPr>
          <a:xfrm>
            <a:off x="33261300" y="7518400"/>
            <a:ext cx="8864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5B6F82"/>
                </a:solidFill>
                <a:latin typeface="Aptos"/>
                <a:ea typeface="Aptos"/>
                <a:cs typeface="Aptos"/>
              </a:defRPr>
            </a:pPr>
            <a:r>
              <a:rPr sz="2400" b="0" dirty="0">
                <a:solidFill>
                  <a:srgbClr val="5B6F82"/>
                </a:solidFill>
                <a:latin typeface="Aptos"/>
                <a:ea typeface="Aptos"/>
                <a:cs typeface="Aptos"/>
              </a:rPr>
              <a:t>74% completed pre and post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F6CD1D-C2C8-8342-836D-C89053AE72D8}"/>
              </a:ext>
            </a:extLst>
          </p:cNvPr>
          <p:cNvSpPr/>
          <p:nvPr/>
        </p:nvSpPr>
        <p:spPr>
          <a:xfrm>
            <a:off x="33020000" y="18313400"/>
            <a:ext cx="9601200" cy="25400"/>
          </a:xfrm>
          <a:prstGeom prst="rect">
            <a:avLst/>
          </a:prstGeom>
          <a:solidFill>
            <a:srgbClr val="C2185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AE114D-06F4-9043-9F43-550237AF07CF}"/>
              </a:ext>
            </a:extLst>
          </p:cNvPr>
          <p:cNvSpPr txBox="1"/>
          <p:nvPr/>
        </p:nvSpPr>
        <p:spPr>
          <a:xfrm>
            <a:off x="33058100" y="28597125"/>
            <a:ext cx="9321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i="1" dirty="0">
                <a:solidFill>
                  <a:srgbClr val="5B6F82"/>
                </a:solidFill>
                <a:latin typeface="Aptos"/>
              </a:rPr>
              <a:t>Disclosures: The authors have no relevant disclosures.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256C8F-8172-C745-9192-B3189111F50E}"/>
              </a:ext>
            </a:extLst>
          </p:cNvPr>
          <p:cNvSpPr txBox="1"/>
          <p:nvPr/>
        </p:nvSpPr>
        <p:spPr>
          <a:xfrm>
            <a:off x="33058100" y="29089145"/>
            <a:ext cx="93218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i="1" dirty="0">
                <a:solidFill>
                  <a:srgbClr val="5B6F82"/>
                </a:solidFill>
                <a:latin typeface="Aptos"/>
              </a:rPr>
              <a:t>Thanks to the U of U IM residents and faculty intensivists who facilitated the simulation block, and to the program leadership for protected curricular time.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4F4622A-1482-794F-9463-8226E734A3F6}"/>
              </a:ext>
            </a:extLst>
          </p:cNvPr>
          <p:cNvSpPr txBox="1"/>
          <p:nvPr/>
        </p:nvSpPr>
        <p:spPr>
          <a:xfrm>
            <a:off x="12344400" y="10325100"/>
            <a:ext cx="189357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200" i="1" dirty="0">
                <a:solidFill>
                  <a:srgbClr val="5B6F82"/>
                </a:solidFill>
                <a:latin typeface="Aptos"/>
              </a:rPr>
              <a:t>Changes in team-leadership confidence (1–10 scale)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426ECEC8-FCB4-EC7D-C3B1-D96503FC21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14100" y="25256613"/>
            <a:ext cx="3295650" cy="329565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68C198E0-26AD-680F-FEDF-5186D60DA928}"/>
              </a:ext>
            </a:extLst>
          </p:cNvPr>
          <p:cNvSpPr txBox="1"/>
          <p:nvPr/>
        </p:nvSpPr>
        <p:spPr>
          <a:xfrm>
            <a:off x="32569150" y="26739050"/>
            <a:ext cx="93218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i="1" dirty="0">
                <a:solidFill>
                  <a:srgbClr val="5B6F82"/>
                </a:solidFill>
                <a:latin typeface="Aptos"/>
              </a:rPr>
              <a:t>Course Materials: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092C26-2E2F-4673-F2BD-0138F6CA975B}"/>
              </a:ext>
            </a:extLst>
          </p:cNvPr>
          <p:cNvSpPr txBox="1"/>
          <p:nvPr/>
        </p:nvSpPr>
        <p:spPr>
          <a:xfrm>
            <a:off x="21526500" y="30591165"/>
            <a:ext cx="5391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Aptos" panose="020B0004020202020204" pitchFamily="34" charset="0"/>
              </a:rPr>
              <a:t>1-10 Likert Scale</a:t>
            </a:r>
          </a:p>
        </p:txBody>
      </p:sp>
    </p:spTree>
    <p:extLst>
      <p:ext uri="{BB962C8B-B14F-4D97-AF65-F5344CB8AC3E}">
        <p14:creationId xmlns:p14="http://schemas.microsoft.com/office/powerpoint/2010/main" val="231081953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0E5B2CB-3720-E44B-9CCA-E31997CA854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96b2788-897b-43a9-a71a-ebb86394506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899</Words>
  <Application>Microsoft Office PowerPoint</Application>
  <DocSecurity>0</DocSecurity>
  <PresentationFormat>Custom</PresentationFormat>
  <Paragraphs>121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Alex Ryden</cp:lastModifiedBy>
  <cp:revision>20</cp:revision>
  <dcterms:created xsi:type="dcterms:W3CDTF">2026-05-06T19:27:15Z</dcterms:created>
  <dcterms:modified xsi:type="dcterms:W3CDTF">2026-05-13T15:10:24Z</dcterms:modified>
</cp:coreProperties>
</file>